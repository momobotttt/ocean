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Cambria"/>
              </a:defRPr>
            </a:pPr>
            <a:r>
              <a:rPr sz="1200" b="0" i="0" u="none" strike="noStrike">
                <a:solidFill>
                  <a:srgbClr val="1F2933"/>
                </a:solidFill>
                <a:latin typeface="Cambria"/>
              </a:rPr>
              <a:t>100 employees, one year</a:t>
            </a:r>
          </a:p>
        </c:rich>
      </c:tx>
      <c:layout/>
      <c:overlay val="0"/>
    </c:title>
    <c:autoTitleDeleted val="0"/>
    <c:plotArea>
      <c:layout/>
      <c:barChart>
        <c:barDir val="col"/>
        <c:grouping val="clustered"/>
        <c:varyColors val="0"/>
        <c:ser>
          <c:idx val="0"/>
          <c:order val="0"/>
          <c:tx>
            <c:strRef>
              <c:f>Sheet1!$B$1</c:f>
              <c:strCache>
                <c:ptCount val="1"/>
                <c:pt idx="0">
                  <c:v>Employees</c:v>
                </c:pt>
              </c:strCache>
            </c:strRef>
          </c:tx>
          <c:spPr>
            <a:solidFill>
              <a:srgbClr val="5C7A8A"/>
            </a:solidFill>
            <a:effectLst/>
          </c:spPr>
          <c:invertIfNegative val="0"/>
          <c:dLbls>
            <c:numFmt formatCode="#,##0" sourceLinked="0"/>
            <c:txPr>
              <a:bodyPr/>
              <a:lstStyle/>
              <a:p>
                <a:pPr>
                  <a:defRPr b="0" i="0" strike="noStrike" sz="1200" u="none">
                    <a:solidFill>
                      <a:srgbClr val="1F2933"/>
                    </a:solidFill>
                    <a:latin typeface="Arial"/>
                  </a:defRPr>
                </a:pPr>
              </a:p>
            </c:txPr>
            <c:showLegendKey val="0"/>
            <c:showVal val="1"/>
            <c:showCatName val="0"/>
            <c:showSerName val="0"/>
            <c:showPercent val="0"/>
            <c:showBubbleSize val="0"/>
            <c:showLeaderLines val="0"/>
          </c:dLbls>
          <c:dPt>
            <c:idx val="0"/>
            <c:invertIfNegative val="0"/>
            <c:bubble3D val="0"/>
            <c:spPr>
              <a:solidFill>
                <a:srgbClr val="5C7A8A"/>
              </a:solidFill>
              <a:effectLst/>
            </c:spPr>
          </c:dPt>
          <c:dPt>
            <c:idx val="1"/>
            <c:invertIfNegative val="0"/>
            <c:bubble3D val="0"/>
            <c:spPr>
              <a:solidFill>
                <a:srgbClr val="C8553D"/>
              </a:solidFill>
              <a:effectLst/>
            </c:spPr>
          </c:dPt>
          <c:cat>
            <c:multiLvlStrRef>
              <c:f>Sheet1!$A$2:$A$3</c:f>
              <c:multiLvlStrCache>
                <c:ptCount val="2"/>
                <c:lvl>
                  <c:pt idx="0">
                    <c:v>Stayed</c:v>
                  </c:pt>
                  <c:pt idx="1">
                    <c:v>Left</c:v>
                  </c:pt>
                </c:lvl>
              </c:multiLvlStrCache>
            </c:multiLvlStrRef>
          </c:cat>
          <c:val>
            <c:numRef>
              <c:f>Sheet1!$B$2:$B$3</c:f>
              <c:numCache>
                <c:formatCode>General</c:formatCode>
                <c:ptCount val="2"/>
                <c:pt idx="0">
                  <c:v>88</c:v>
                </c:pt>
                <c:pt idx="1">
                  <c:v>12</c:v>
                </c:pt>
              </c:numCache>
            </c:numRef>
          </c:val>
        </c:ser>
        <c:dLbls>
          <c:numFmt formatCode="#,##0" sourceLinked="0"/>
          <c:txPr>
            <a:bodyPr/>
            <a:lstStyle/>
            <a:p>
              <a:pPr>
                <a:defRPr b="0" i="0" strike="noStrike" sz="12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Arial"/>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0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up before students arrive. Screens off rule applies from the first minute. Do not start speaking until the quiz sheet is on the desks. Timing target for this slide: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circle once. The only new thing this week: the session ends with a 15-minute group discussion instead of the one-minute paper. Say the clock time for the end of the break now and write it on the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ex-ante — paid on past performance. (2) cost against perceived value; strategic alignment is NOT on the curve (textbook Ch.9 p.203). (3) 60/40 — the firm had been on 40/60 (Ch.9 p.199–200). (4) any two of deferral, malus, clawback — check the current CG-5 wording before you say a number of years. (5) False — Ch.9 p.188. Collect the sheets; they are the attendance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ON for you only. Open the Sunday 1 workforce-planning spreadsheet, pick one group’s tab, change 22% to 26%, let the numbers move. Do not explain — let them watch. Then: “Today is about that number. Not the average. The names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quoted line, then play. Downloaded copy, not streaming. Subtitles on. If the file will not play within ninety seconds, abandon it and go to the debrief questions as a think-pair-share.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for three full seconds after the video before you ask question 1. Second-language students need the silence to build the sentence. Take one answer per question, typed first, spoken second. Do not resolve anything yet — question 3 is answered at minute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each, no more. These are already typed in the shared document. Point, read the tag, move on. Total for both vocabulary slides: eight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the last three here — you only name them. They come back at minutes 60–73 with the pictures. Keep to the clock: 28:00 is Theory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Two-line rule for imported theory: the claim, then the source, then say out loud that it is not on their reading list. Under fourteen minutes for slides 9–12: one mechanism, one example,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grid in the air before you show it. Ask one student to place the 26% from the hook: which box are most of Kestrel Pay’s leavers in? The word “perceived” is not optional — both axes are what the employee believes, and the model sees neither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example only: the engineer who stopped doing overtime three months before resigning. Ask: which link was that? Then the sentence to land: the model sees traces of the late links, not the cause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end of Theory A: the model has a ceiling, and the ceiling is a feature of the phenomenon, not of the data scientist. Move to the check at 42:00.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for your own case first — the meeting where the brief was “reduce turnover” and the real problem was something else. Then two minutes here: map the three buckets onto the two axes (external ≈ ease; organisational and individual ≈ desirability). Note that the book did not cite March &amp; Simon; you are doing the mapping, so mark it as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Take two answers, one from a local student and one from an overseas student — but ask for a view, never for “what Hong Kong people think”. Then break: write the clock time on the board. Back at 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Use it to set the forty-row sheets face down on each group’s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minutes for slides 16–20. This one: thirty seconds. Say “framework, not theory” out loud; it matters for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name one person on your last team who was on list 2 but not on list 1. Everyone has one. That is the whole point of the framework — and the monitoring catch is the bridge to the DPP6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four boxes in plain English, then ask the room to price the two wrong ones: what does it cost to keep someone who was never leaving? what does an unplanned engineer exit cost — recruiting, ramp-up, the project slip? Type both numbers into the shared document. They will use them at minute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quoted sentence slowly, twice. If anyone asks which algorithm: “for this decision the algorithm matters far less than where you set the threshold — and that one is ours. Which algorithm, and why, is Dr Lee’s.”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of arithmetic on the chart, then hand the measurement question to Dr Lee by name. Next slide puts two published percentages and one CEO claim next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85% and wait. Someone will say class imbalance; if not, point back at slide 20. The IBM figure is a press claim by a CEO, not a study — say that plainly. Al Akasheh’s two predictors (pay, overtime) both sit on the desirability axis; Hong Kong’s two institutions (notice, visa) both sit on the ease axis. The model sees the first axis; institutions move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point to land: step 4 — the score was used to pull someone OUT of a system and support them, not to pay them. Then: which of the eight steps did this team reach? (Execute and evaluate — the process became recurring.) Now the activity: sheets face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speaker, challenger, recorder — rotate from last week. Walk the room; do not answer “what would you do”. At 90:00 exactly, stop them and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The answer to steer towards: the problem stops being forty individual retention payments and becomes one management-capability problem and one promotion-path problem — a system fix, not forty awkward conversations. Read it back through Theory A (both drivers are desirability) and the textbook (India: promotion rate below the 15% guideline, p.110; the highest-attrition managers rated top by their bosses, p.109). This is predictive versus prescriptive, and it lands harder here than anywhere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Process models — explains: why intention predicts; why ease matters as much as wanting; why whether beats when. Does not: shock-driven exits (the ceiling); it assumes a deliberate sequence; it says nothing about staying. Risk quantification — explains: turns prediction into a priced decision; separates “likely to leave” from “hurts most”; plugs straight into threshold and the four boxes. Does not: needs event logs (monitoring); the loss figures are human assumptions; it never answers why; it covers only roles that leave a data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Timekeeping is the whole job here: 105–117 discuss and type; 117–120 each group reads its line-2 answer aloud, forty seconds each, no comment from you between groups. Question 2 is not a philosophy question — push for a concrete list of what would be handed over. The exemptions in the Ordinance are not to be recited unless you have checked the current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once. Do not add anything after it. Thank them, and stop on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the screen as they pack up. Collect the quiz sheets if you have not. Export the shared document tonight — it is the session record and the AT1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E4EAEE"/>
                </a:solidFill>
                <a:latin typeface="Calibri" pitchFamily="34" charset="0"/>
                <a:ea typeface="Calibri" pitchFamily="34" charset="-122"/>
                <a:cs typeface="Calibri" pitchFamily="34" charset="-120"/>
              </a:rPr>
              <a:t>1</a:t>
            </a:r>
            <a:endParaRPr lang="en-US" sz="900" dirty="0"/>
          </a:p>
        </p:txBody>
      </p:sp>
      <p:sp>
        <p:nvSpPr>
          <p:cNvPr id="3" name="Shape 1"/>
          <p:cNvSpPr/>
          <p:nvPr/>
        </p:nvSpPr>
        <p:spPr>
          <a:xfrm>
            <a:off x="6675120" y="1097280"/>
            <a:ext cx="2011680" cy="2011680"/>
          </a:xfrm>
          <a:prstGeom prst="ellipse">
            <a:avLst/>
          </a:prstGeom>
          <a:solidFill>
            <a:srgbClr val="C8553D"/>
          </a:solidFill>
          <a:ln w="12700">
            <a:solidFill>
              <a:srgbClr val="C8553D"/>
            </a:solidFill>
            <a:prstDash val="solid"/>
          </a:ln>
        </p:spPr>
      </p:sp>
      <p:sp>
        <p:nvSpPr>
          <p:cNvPr id="4" name="Text 2"/>
          <p:cNvSpPr txBox="1"/>
          <p:nvPr/>
        </p:nvSpPr>
        <p:spPr>
          <a:xfrm>
            <a:off x="6675120" y="1097280"/>
            <a:ext cx="2011680" cy="201168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4</a:t>
            </a:r>
            <a:endParaRPr lang="en-US" sz="9600" dirty="0"/>
          </a:p>
        </p:txBody>
      </p:sp>
      <p:sp>
        <p:nvSpPr>
          <p:cNvPr id="5" name="Text 3"/>
          <p:cNvSpPr txBox="1"/>
          <p:nvPr/>
        </p:nvSpPr>
        <p:spPr>
          <a:xfrm>
            <a:off x="548640" y="457200"/>
            <a:ext cx="5852160" cy="502920"/>
          </a:xfrm>
          <a:prstGeom prst="rect">
            <a:avLst/>
          </a:prstGeom>
          <a:noFill/>
          <a:ln/>
        </p:spPr>
        <p:txBody>
          <a:bodyPr wrap="square" lIns="0" tIns="0" rIns="0" bIns="0" rtlCol="0" anchor="t"/>
          <a:lstStyle/>
          <a:p>
            <a:pPr algn="l" indent="0" marL="0">
              <a:buNone/>
            </a:pPr>
            <a:r>
              <a:rPr lang="en-US" sz="1200" dirty="0">
                <a:solidFill>
                  <a:srgbClr val="E4EAEE"/>
                </a:solidFill>
                <a:latin typeface="Calibri" pitchFamily="34" charset="0"/>
                <a:ea typeface="Calibri" pitchFamily="34" charset="-122"/>
                <a:cs typeface="Calibri" pitchFamily="34" charset="-120"/>
              </a:rPr>
              <a:t>FINT 508  ·  Human Resource Analytics for FinTech Management  ·  Guest Sunday 4 of 4</a:t>
            </a:r>
            <a:endParaRPr lang="en-US" sz="1200" dirty="0"/>
          </a:p>
        </p:txBody>
      </p:sp>
      <p:sp>
        <p:nvSpPr>
          <p:cNvPr id="6" name="Text 4"/>
          <p:cNvSpPr txBox="1"/>
          <p:nvPr/>
        </p:nvSpPr>
        <p:spPr>
          <a:xfrm>
            <a:off x="548640" y="1188720"/>
            <a:ext cx="5852160" cy="14173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Predicting Turnover in FinTech</a:t>
            </a:r>
            <a:endParaRPr lang="en-US" sz="4000" dirty="0"/>
          </a:p>
        </p:txBody>
      </p:sp>
      <p:sp>
        <p:nvSpPr>
          <p:cNvPr id="7" name="Text 5"/>
          <p:cNvSpPr txBox="1"/>
          <p:nvPr/>
        </p:nvSpPr>
        <p:spPr>
          <a:xfrm>
            <a:off x="548640" y="2697480"/>
            <a:ext cx="5852160" cy="685800"/>
          </a:xfrm>
          <a:prstGeom prst="rect">
            <a:avLst/>
          </a:prstGeom>
          <a:noFill/>
          <a:ln/>
        </p:spPr>
        <p:txBody>
          <a:bodyPr wrap="square" lIns="0" tIns="0" rIns="0" bIns="0" rtlCol="0" anchor="t"/>
          <a:lstStyle/>
          <a:p>
            <a:pPr algn="l" indent="0" marL="0">
              <a:buNone/>
            </a:pPr>
            <a:r>
              <a:rPr lang="en-US" sz="2000" i="1" dirty="0">
                <a:solidFill>
                  <a:srgbClr val="E4EAEE"/>
                </a:solidFill>
                <a:latin typeface="Cambria" pitchFamily="34" charset="0"/>
                <a:ea typeface="Cambria" pitchFamily="34" charset="-122"/>
                <a:cs typeface="Cambria" pitchFamily="34" charset="-120"/>
              </a:rPr>
              <a:t>Who is likely to leave — and who is allowed to know?</a:t>
            </a:r>
            <a:endParaRPr lang="en-US" sz="2000" dirty="0"/>
          </a:p>
        </p:txBody>
      </p:sp>
      <p:sp>
        <p:nvSpPr>
          <p:cNvPr id="8" name="Text 6"/>
          <p:cNvSpPr txBox="1"/>
          <p:nvPr/>
        </p:nvSpPr>
        <p:spPr>
          <a:xfrm>
            <a:off x="548640" y="3840480"/>
            <a:ext cx="6035040" cy="640080"/>
          </a:xfrm>
          <a:prstGeom prst="rect">
            <a:avLst/>
          </a:prstGeom>
          <a:noFill/>
          <a:ln/>
        </p:spPr>
        <p:txBody>
          <a:bodyPr wrap="square" lIns="0" tIns="0" rIns="0" bIns="0" rtlCol="0" anchor="t"/>
          <a:lstStyle/>
          <a:p>
            <a:pPr algn="l" indent="0" marL="0">
              <a:buNone/>
            </a:pPr>
            <a:r>
              <a:rPr lang="en-US" sz="1100" dirty="0">
                <a:solidFill>
                  <a:srgbClr val="E4EAEE"/>
                </a:solidFill>
                <a:latin typeface="Calibri" pitchFamily="34" charset="0"/>
                <a:ea typeface="Calibri" pitchFamily="34" charset="-122"/>
                <a:cs typeface="Calibri" pitchFamily="34" charset="-120"/>
              </a:rPr>
              <a:t>Hong Kong Shue Yan University  ·  120 minutes  ·  Guest lecture (HRM practice)</a:t>
            </a:r>
            <a:endParaRPr lang="en-US" sz="1100" dirty="0"/>
          </a:p>
          <a:p>
            <a:pPr algn="l" indent="0" marL="0">
              <a:buNone/>
            </a:pPr>
            <a:r>
              <a:rPr lang="en-US" sz="1100" dirty="0">
                <a:solidFill>
                  <a:srgbClr val="E4EAEE"/>
                </a:solidFill>
                <a:latin typeface="Calibri" pitchFamily="34" charset="0"/>
                <a:ea typeface="Calibri" pitchFamily="34" charset="-122"/>
                <a:cs typeface="Calibri" pitchFamily="34" charset="-120"/>
              </a:rPr>
              <a:t>Technology and modelling content: Dr LEE Tin Yun Philip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0–8 min</a:t>
            </a:r>
            <a:endParaRPr lang="en-US" sz="1000" dirty="0"/>
          </a:p>
        </p:txBody>
      </p:sp>
      <p:sp>
        <p:nvSpPr>
          <p:cNvPr id="3" name="Text 1"/>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PROVENANCE MARKS USED TODAY:  TEXTBOOK Ch.5 + page  ·  PAPER (on your reading list)  ·  IMPORTED THEORY (author, year only)  ·  INSTRUCTOR</a:t>
            </a:r>
            <a:endParaRPr lang="en-US" sz="800" dirty="0"/>
          </a:p>
        </p:txBody>
      </p:sp>
      <p:sp>
        <p:nvSpPr>
          <p:cNvPr id="4" name="Text 2"/>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347472"/>
            <a:ext cx="82296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Six steps, same as every Sunday</a:t>
            </a:r>
            <a:endParaRPr lang="en-US" sz="2400" dirty="0"/>
          </a:p>
        </p:txBody>
      </p:sp>
      <p:sp>
        <p:nvSpPr>
          <p:cNvPr id="6" name="Shape 4"/>
          <p:cNvSpPr/>
          <p:nvPr/>
        </p:nvSpPr>
        <p:spPr>
          <a:xfrm>
            <a:off x="640080" y="1188720"/>
            <a:ext cx="640080" cy="640080"/>
          </a:xfrm>
          <a:prstGeom prst="ellipse">
            <a:avLst/>
          </a:prstGeom>
          <a:solidFill>
            <a:srgbClr val="5C7A8A"/>
          </a:solidFill>
          <a:ln w="12700">
            <a:solidFill>
              <a:srgbClr val="5C7A8A"/>
            </a:solidFill>
            <a:prstDash val="solid"/>
          </a:ln>
        </p:spPr>
      </p:sp>
      <p:sp>
        <p:nvSpPr>
          <p:cNvPr id="7" name="Text 5"/>
          <p:cNvSpPr txBox="1"/>
          <p:nvPr/>
        </p:nvSpPr>
        <p:spPr>
          <a:xfrm>
            <a:off x="64008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a:t>
            </a:r>
            <a:endParaRPr lang="en-US" sz="1800" dirty="0"/>
          </a:p>
        </p:txBody>
      </p:sp>
      <p:sp>
        <p:nvSpPr>
          <p:cNvPr id="8" name="Text 6"/>
          <p:cNvSpPr txBox="1"/>
          <p:nvPr/>
        </p:nvSpPr>
        <p:spPr>
          <a:xfrm>
            <a:off x="45720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Hook</a:t>
            </a:r>
            <a:endParaRPr lang="en-US" sz="1200" dirty="0"/>
          </a:p>
        </p:txBody>
      </p:sp>
      <p:sp>
        <p:nvSpPr>
          <p:cNvPr id="9" name="Text 7"/>
          <p:cNvSpPr txBox="1"/>
          <p:nvPr/>
        </p:nvSpPr>
        <p:spPr>
          <a:xfrm>
            <a:off x="45720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0–8</a:t>
            </a:r>
            <a:endParaRPr lang="en-US" sz="1050" dirty="0"/>
          </a:p>
        </p:txBody>
      </p:sp>
      <p:sp>
        <p:nvSpPr>
          <p:cNvPr id="10" name="Shape 8"/>
          <p:cNvSpPr/>
          <p:nvPr/>
        </p:nvSpPr>
        <p:spPr>
          <a:xfrm>
            <a:off x="1691640" y="1188720"/>
            <a:ext cx="640080" cy="640080"/>
          </a:xfrm>
          <a:prstGeom prst="ellipse">
            <a:avLst/>
          </a:prstGeom>
          <a:solidFill>
            <a:srgbClr val="5C7A8A"/>
          </a:solidFill>
          <a:ln w="12700">
            <a:solidFill>
              <a:srgbClr val="5C7A8A"/>
            </a:solidFill>
            <a:prstDash val="solid"/>
          </a:ln>
        </p:spPr>
      </p:sp>
      <p:sp>
        <p:nvSpPr>
          <p:cNvPr id="11" name="Text 9"/>
          <p:cNvSpPr txBox="1"/>
          <p:nvPr/>
        </p:nvSpPr>
        <p:spPr>
          <a:xfrm>
            <a:off x="169164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2" name="Text 10"/>
          <p:cNvSpPr txBox="1"/>
          <p:nvPr/>
        </p:nvSpPr>
        <p:spPr>
          <a:xfrm>
            <a:off x="150876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Video</a:t>
            </a:r>
            <a:endParaRPr lang="en-US" sz="1200" dirty="0"/>
          </a:p>
        </p:txBody>
      </p:sp>
      <p:sp>
        <p:nvSpPr>
          <p:cNvPr id="13" name="Text 11"/>
          <p:cNvSpPr txBox="1"/>
          <p:nvPr/>
        </p:nvSpPr>
        <p:spPr>
          <a:xfrm>
            <a:off x="150876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8–20</a:t>
            </a:r>
            <a:endParaRPr lang="en-US" sz="1050" dirty="0"/>
          </a:p>
        </p:txBody>
      </p:sp>
      <p:sp>
        <p:nvSpPr>
          <p:cNvPr id="14" name="Shape 12"/>
          <p:cNvSpPr/>
          <p:nvPr/>
        </p:nvSpPr>
        <p:spPr>
          <a:xfrm>
            <a:off x="2743200" y="1188720"/>
            <a:ext cx="640080" cy="640080"/>
          </a:xfrm>
          <a:prstGeom prst="ellipse">
            <a:avLst/>
          </a:prstGeom>
          <a:solidFill>
            <a:srgbClr val="5C7A8A"/>
          </a:solidFill>
          <a:ln w="12700">
            <a:solidFill>
              <a:srgbClr val="5C7A8A"/>
            </a:solidFill>
            <a:prstDash val="solid"/>
          </a:ln>
        </p:spPr>
      </p:sp>
      <p:sp>
        <p:nvSpPr>
          <p:cNvPr id="15" name="Text 13"/>
          <p:cNvSpPr txBox="1"/>
          <p:nvPr/>
        </p:nvSpPr>
        <p:spPr>
          <a:xfrm>
            <a:off x="274320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6" name="Text 14"/>
          <p:cNvSpPr txBox="1"/>
          <p:nvPr/>
        </p:nvSpPr>
        <p:spPr>
          <a:xfrm>
            <a:off x="256032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Words</a:t>
            </a:r>
            <a:endParaRPr lang="en-US" sz="1200" dirty="0"/>
          </a:p>
        </p:txBody>
      </p:sp>
      <p:sp>
        <p:nvSpPr>
          <p:cNvPr id="17" name="Text 15"/>
          <p:cNvSpPr txBox="1"/>
          <p:nvPr/>
        </p:nvSpPr>
        <p:spPr>
          <a:xfrm>
            <a:off x="256032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20–28</a:t>
            </a:r>
            <a:endParaRPr lang="en-US" sz="1050" dirty="0"/>
          </a:p>
        </p:txBody>
      </p:sp>
      <p:sp>
        <p:nvSpPr>
          <p:cNvPr id="18" name="Shape 16"/>
          <p:cNvSpPr/>
          <p:nvPr/>
        </p:nvSpPr>
        <p:spPr>
          <a:xfrm>
            <a:off x="3794760" y="1188720"/>
            <a:ext cx="640080" cy="640080"/>
          </a:xfrm>
          <a:prstGeom prst="ellipse">
            <a:avLst/>
          </a:prstGeom>
          <a:solidFill>
            <a:srgbClr val="5C7A8A"/>
          </a:solidFill>
          <a:ln w="12700">
            <a:solidFill>
              <a:srgbClr val="5C7A8A"/>
            </a:solidFill>
            <a:prstDash val="solid"/>
          </a:ln>
        </p:spPr>
      </p:sp>
      <p:sp>
        <p:nvSpPr>
          <p:cNvPr id="19" name="Text 17"/>
          <p:cNvSpPr txBox="1"/>
          <p:nvPr/>
        </p:nvSpPr>
        <p:spPr>
          <a:xfrm>
            <a:off x="379476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txBox="1"/>
          <p:nvPr/>
        </p:nvSpPr>
        <p:spPr>
          <a:xfrm>
            <a:off x="361188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Theory</a:t>
            </a:r>
            <a:endParaRPr lang="en-US" sz="1200" dirty="0"/>
          </a:p>
        </p:txBody>
      </p:sp>
      <p:sp>
        <p:nvSpPr>
          <p:cNvPr id="21" name="Text 19"/>
          <p:cNvSpPr txBox="1"/>
          <p:nvPr/>
        </p:nvSpPr>
        <p:spPr>
          <a:xfrm>
            <a:off x="361188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28–42</a:t>
            </a:r>
            <a:endParaRPr lang="en-US" sz="1050" dirty="0"/>
          </a:p>
          <a:p>
            <a:pPr algn="ctr" indent="0" marL="0">
              <a:buNone/>
            </a:pPr>
            <a:r>
              <a:rPr lang="en-US" sz="1050" dirty="0">
                <a:solidFill>
                  <a:srgbClr val="52606D"/>
                </a:solidFill>
                <a:latin typeface="Calibri" pitchFamily="34" charset="0"/>
                <a:ea typeface="Calibri" pitchFamily="34" charset="-122"/>
                <a:cs typeface="Calibri" pitchFamily="34" charset="-120"/>
              </a:rPr>
              <a:t>60–73</a:t>
            </a:r>
            <a:endParaRPr lang="en-US" sz="1050" dirty="0"/>
          </a:p>
        </p:txBody>
      </p:sp>
      <p:sp>
        <p:nvSpPr>
          <p:cNvPr id="22" name="Shape 20"/>
          <p:cNvSpPr/>
          <p:nvPr/>
        </p:nvSpPr>
        <p:spPr>
          <a:xfrm>
            <a:off x="4846320" y="1188720"/>
            <a:ext cx="640080" cy="640080"/>
          </a:xfrm>
          <a:prstGeom prst="ellipse">
            <a:avLst/>
          </a:prstGeom>
          <a:solidFill>
            <a:srgbClr val="5C7A8A"/>
          </a:solidFill>
          <a:ln w="12700">
            <a:solidFill>
              <a:srgbClr val="5C7A8A"/>
            </a:solidFill>
            <a:prstDash val="solid"/>
          </a:ln>
        </p:spPr>
      </p:sp>
      <p:sp>
        <p:nvSpPr>
          <p:cNvPr id="23" name="Text 21"/>
          <p:cNvSpPr txBox="1"/>
          <p:nvPr/>
        </p:nvSpPr>
        <p:spPr>
          <a:xfrm>
            <a:off x="484632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466344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Check</a:t>
            </a:r>
            <a:endParaRPr lang="en-US" sz="1200" dirty="0"/>
          </a:p>
        </p:txBody>
      </p:sp>
      <p:sp>
        <p:nvSpPr>
          <p:cNvPr id="25" name="Text 23"/>
          <p:cNvSpPr txBox="1"/>
          <p:nvPr/>
        </p:nvSpPr>
        <p:spPr>
          <a:xfrm>
            <a:off x="466344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42–50</a:t>
            </a:r>
            <a:endParaRPr lang="en-US" sz="1050" dirty="0"/>
          </a:p>
          <a:p>
            <a:pPr algn="ctr" indent="0" marL="0">
              <a:buNone/>
            </a:pPr>
            <a:r>
              <a:rPr lang="en-US" sz="1050" dirty="0">
                <a:solidFill>
                  <a:srgbClr val="52606D"/>
                </a:solidFill>
                <a:latin typeface="Calibri" pitchFamily="34" charset="0"/>
                <a:ea typeface="Calibri" pitchFamily="34" charset="-122"/>
                <a:cs typeface="Calibri" pitchFamily="34" charset="-120"/>
              </a:rPr>
              <a:t>73–80</a:t>
            </a:r>
            <a:endParaRPr lang="en-US" sz="1050" dirty="0"/>
          </a:p>
        </p:txBody>
      </p:sp>
      <p:sp>
        <p:nvSpPr>
          <p:cNvPr id="26" name="Shape 24"/>
          <p:cNvSpPr/>
          <p:nvPr/>
        </p:nvSpPr>
        <p:spPr>
          <a:xfrm>
            <a:off x="5897880" y="1188720"/>
            <a:ext cx="640080" cy="640080"/>
          </a:xfrm>
          <a:prstGeom prst="ellipse">
            <a:avLst/>
          </a:prstGeom>
          <a:solidFill>
            <a:srgbClr val="5C7A8A"/>
          </a:solidFill>
          <a:ln w="12700">
            <a:solidFill>
              <a:srgbClr val="5C7A8A"/>
            </a:solidFill>
            <a:prstDash val="solid"/>
          </a:ln>
        </p:spPr>
      </p:sp>
      <p:sp>
        <p:nvSpPr>
          <p:cNvPr id="27" name="Text 25"/>
          <p:cNvSpPr txBox="1"/>
          <p:nvPr/>
        </p:nvSpPr>
        <p:spPr>
          <a:xfrm>
            <a:off x="589788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txBox="1"/>
          <p:nvPr/>
        </p:nvSpPr>
        <p:spPr>
          <a:xfrm>
            <a:off x="571500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Activity</a:t>
            </a:r>
            <a:endParaRPr lang="en-US" sz="1200" dirty="0"/>
          </a:p>
        </p:txBody>
      </p:sp>
      <p:sp>
        <p:nvSpPr>
          <p:cNvPr id="29" name="Text 27"/>
          <p:cNvSpPr txBox="1"/>
          <p:nvPr/>
        </p:nvSpPr>
        <p:spPr>
          <a:xfrm>
            <a:off x="571500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80–98</a:t>
            </a:r>
            <a:endParaRPr lang="en-US" sz="1050" dirty="0"/>
          </a:p>
        </p:txBody>
      </p:sp>
      <p:sp>
        <p:nvSpPr>
          <p:cNvPr id="30" name="Shape 28"/>
          <p:cNvSpPr/>
          <p:nvPr/>
        </p:nvSpPr>
        <p:spPr>
          <a:xfrm>
            <a:off x="6949440" y="1188720"/>
            <a:ext cx="640080" cy="640080"/>
          </a:xfrm>
          <a:prstGeom prst="ellipse">
            <a:avLst/>
          </a:prstGeom>
          <a:solidFill>
            <a:srgbClr val="5C7A8A"/>
          </a:solidFill>
          <a:ln w="12700">
            <a:solidFill>
              <a:srgbClr val="5C7A8A"/>
            </a:solidFill>
            <a:prstDash val="solid"/>
          </a:ln>
        </p:spPr>
      </p:sp>
      <p:sp>
        <p:nvSpPr>
          <p:cNvPr id="31" name="Text 29"/>
          <p:cNvSpPr txBox="1"/>
          <p:nvPr/>
        </p:nvSpPr>
        <p:spPr>
          <a:xfrm>
            <a:off x="694944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txBox="1"/>
          <p:nvPr/>
        </p:nvSpPr>
        <p:spPr>
          <a:xfrm>
            <a:off x="676656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Pros/cons</a:t>
            </a:r>
            <a:endParaRPr lang="en-US" sz="1200" dirty="0"/>
          </a:p>
        </p:txBody>
      </p:sp>
      <p:sp>
        <p:nvSpPr>
          <p:cNvPr id="33" name="Text 31"/>
          <p:cNvSpPr txBox="1"/>
          <p:nvPr/>
        </p:nvSpPr>
        <p:spPr>
          <a:xfrm>
            <a:off x="676656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98–105</a:t>
            </a:r>
            <a:endParaRPr lang="en-US" sz="1050" dirty="0"/>
          </a:p>
        </p:txBody>
      </p:sp>
      <p:sp>
        <p:nvSpPr>
          <p:cNvPr id="34" name="Shape 32"/>
          <p:cNvSpPr/>
          <p:nvPr/>
        </p:nvSpPr>
        <p:spPr>
          <a:xfrm>
            <a:off x="8001000" y="1188720"/>
            <a:ext cx="640080" cy="640080"/>
          </a:xfrm>
          <a:prstGeom prst="ellipse">
            <a:avLst/>
          </a:prstGeom>
          <a:solidFill>
            <a:srgbClr val="C8553D"/>
          </a:solidFill>
          <a:ln w="12700">
            <a:solidFill>
              <a:srgbClr val="C8553D"/>
            </a:solidFill>
            <a:prstDash val="solid"/>
          </a:ln>
        </p:spPr>
      </p:sp>
      <p:sp>
        <p:nvSpPr>
          <p:cNvPr id="35" name="Text 33"/>
          <p:cNvSpPr txBox="1"/>
          <p:nvPr/>
        </p:nvSpPr>
        <p:spPr>
          <a:xfrm>
            <a:off x="8001000" y="1188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36" name="Text 34"/>
          <p:cNvSpPr txBox="1"/>
          <p:nvPr/>
        </p:nvSpPr>
        <p:spPr>
          <a:xfrm>
            <a:off x="7818120" y="1920240"/>
            <a:ext cx="1005840" cy="27432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Discuss</a:t>
            </a:r>
            <a:endParaRPr lang="en-US" sz="1200" dirty="0"/>
          </a:p>
        </p:txBody>
      </p:sp>
      <p:sp>
        <p:nvSpPr>
          <p:cNvPr id="37" name="Text 35"/>
          <p:cNvSpPr txBox="1"/>
          <p:nvPr/>
        </p:nvSpPr>
        <p:spPr>
          <a:xfrm>
            <a:off x="7818120" y="2194560"/>
            <a:ext cx="1005840" cy="5029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105–120</a:t>
            </a:r>
            <a:endParaRPr lang="en-US" sz="1050" dirty="0"/>
          </a:p>
        </p:txBody>
      </p:sp>
      <p:sp>
        <p:nvSpPr>
          <p:cNvPr id="38" name="Shape 36"/>
          <p:cNvSpPr/>
          <p:nvPr/>
        </p:nvSpPr>
        <p:spPr>
          <a:xfrm>
            <a:off x="457200" y="2971800"/>
            <a:ext cx="8229600" cy="1508760"/>
          </a:xfrm>
          <a:prstGeom prst="roundRect">
            <a:avLst>
              <a:gd name="adj" fmla="val 4848"/>
            </a:avLst>
          </a:prstGeom>
          <a:solidFill>
            <a:srgbClr val="F3F6F8"/>
          </a:solidFill>
          <a:ln w="12700">
            <a:solidFill>
              <a:srgbClr val="F3F6F8"/>
            </a:solidFill>
            <a:prstDash val="solid"/>
          </a:ln>
        </p:spPr>
      </p:sp>
      <p:sp>
        <p:nvSpPr>
          <p:cNvPr id="39" name="Text 37"/>
          <p:cNvSpPr txBox="1"/>
          <p:nvPr/>
        </p:nvSpPr>
        <p:spPr>
          <a:xfrm>
            <a:off x="640080" y="3108960"/>
            <a:ext cx="7863840" cy="12801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1F2933"/>
                </a:solidFill>
                <a:latin typeface="Calibri" pitchFamily="34" charset="0"/>
                <a:ea typeface="Calibri" pitchFamily="34" charset="-122"/>
                <a:cs typeface="Calibri" pitchFamily="34" charset="-120"/>
              </a:rPr>
              <a:t>Break 50–60. Back at the clock time on the screen, not “in ten minutes”.</a:t>
            </a:r>
            <a:endParaRPr lang="en-US" sz="1250" dirty="0"/>
          </a:p>
          <a:p>
            <a:pPr marL="177800" indent="-177800">
              <a:spcAft>
                <a:spcPts val="400"/>
              </a:spcAft>
              <a:buSzPct val="100000"/>
              <a:buChar char="•"/>
            </a:pPr>
            <a:r>
              <a:rPr lang="en-US" sz="1250" dirty="0">
                <a:solidFill>
                  <a:srgbClr val="1F2933"/>
                </a:solidFill>
                <a:latin typeface="Calibri" pitchFamily="34" charset="0"/>
                <a:ea typeface="Calibri" pitchFamily="34" charset="-122"/>
                <a:cs typeface="Calibri" pitchFamily="34" charset="-120"/>
              </a:rPr>
              <a:t>Screens off unless a slide says otherwise. The shared document is the board: type your answers there.</a:t>
            </a:r>
            <a:endParaRPr lang="en-US" sz="1250" dirty="0"/>
          </a:p>
          <a:p>
            <a:pPr marL="177800" indent="-177800">
              <a:spcAft>
                <a:spcPts val="400"/>
              </a:spcAft>
              <a:buSzPct val="100000"/>
              <a:buChar char="•"/>
            </a:pPr>
            <a:r>
              <a:rPr lang="en-US" sz="1250" dirty="0">
                <a:solidFill>
                  <a:srgbClr val="1F2933"/>
                </a:solidFill>
                <a:latin typeface="Calibri" pitchFamily="34" charset="0"/>
                <a:ea typeface="Calibri" pitchFamily="34" charset="-122"/>
                <a:cs typeface="Calibri" pitchFamily="34" charset="-120"/>
              </a:rPr>
              <a:t>Four groups of 3–4, fixed for the whole session. Roles rotate: speaker, challenger, recorder.</a:t>
            </a:r>
            <a:endParaRPr lang="en-US" sz="1250" dirty="0"/>
          </a:p>
          <a:p>
            <a:pPr marL="177800" indent="-177800">
              <a:spcAft>
                <a:spcPts val="400"/>
              </a:spcAft>
              <a:buSzPct val="100000"/>
              <a:buChar char="•"/>
            </a:pPr>
            <a:r>
              <a:rPr lang="en-US" sz="1250" dirty="0">
                <a:solidFill>
                  <a:srgbClr val="1F2933"/>
                </a:solidFill>
                <a:latin typeface="Calibri" pitchFamily="34" charset="0"/>
                <a:ea typeface="Calibri" pitchFamily="34" charset="-122"/>
                <a:cs typeface="Calibri" pitchFamily="34" charset="-120"/>
              </a:rPr>
              <a:t>The last fifteen minutes are yours: a group discussion, three questions, three lines per group.</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0–8 min · quiz</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covers Sunday 3 (compensation)  ·  doubles as attendance and AT1 record</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3</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Five questions, two minutes, on your own</a:t>
            </a:r>
            <a:endParaRPr lang="en-US" sz="2400" dirty="0"/>
          </a:p>
        </p:txBody>
      </p:sp>
      <p:sp>
        <p:nvSpPr>
          <p:cNvPr id="8" name="Shape 6"/>
          <p:cNvSpPr/>
          <p:nvPr/>
        </p:nvSpPr>
        <p:spPr>
          <a:xfrm>
            <a:off x="548640" y="1097280"/>
            <a:ext cx="384048" cy="384048"/>
          </a:xfrm>
          <a:prstGeom prst="ellipse">
            <a:avLst/>
          </a:prstGeom>
          <a:solidFill>
            <a:srgbClr val="5C7A8A"/>
          </a:solidFill>
          <a:ln w="12700">
            <a:solidFill>
              <a:srgbClr val="5C7A8A"/>
            </a:solidFill>
            <a:prstDash val="solid"/>
          </a:ln>
        </p:spPr>
      </p:sp>
      <p:sp>
        <p:nvSpPr>
          <p:cNvPr id="9" name="Text 7"/>
          <p:cNvSpPr txBox="1"/>
          <p:nvPr/>
        </p:nvSpPr>
        <p:spPr>
          <a:xfrm>
            <a:off x="54864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097280" y="1097280"/>
            <a:ext cx="7498080" cy="502920"/>
          </a:xfrm>
          <a:prstGeom prst="rect">
            <a:avLst/>
          </a:prstGeom>
          <a:noFill/>
          <a:ln/>
        </p:spPr>
        <p:txBody>
          <a:bodyPr wrap="square" lIns="0" tIns="0" rIns="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A bonus paid on last year’s results — is that an ex-ante or an ex-post incentive?</a:t>
            </a:r>
            <a:endParaRPr lang="en-US" sz="1400" dirty="0"/>
          </a:p>
        </p:txBody>
      </p:sp>
      <p:sp>
        <p:nvSpPr>
          <p:cNvPr id="11" name="Shape 9"/>
          <p:cNvSpPr/>
          <p:nvPr/>
        </p:nvSpPr>
        <p:spPr>
          <a:xfrm>
            <a:off x="548640" y="1755648"/>
            <a:ext cx="384048" cy="384048"/>
          </a:xfrm>
          <a:prstGeom prst="ellipse">
            <a:avLst/>
          </a:prstGeom>
          <a:solidFill>
            <a:srgbClr val="5C7A8A"/>
          </a:solidFill>
          <a:ln w="12700">
            <a:solidFill>
              <a:srgbClr val="5C7A8A"/>
            </a:solidFill>
            <a:prstDash val="solid"/>
          </a:ln>
        </p:spPr>
      </p:sp>
      <p:sp>
        <p:nvSpPr>
          <p:cNvPr id="12" name="Text 10"/>
          <p:cNvSpPr txBox="1"/>
          <p:nvPr/>
        </p:nvSpPr>
        <p:spPr>
          <a:xfrm>
            <a:off x="54864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097280" y="1755648"/>
            <a:ext cx="7498080" cy="502920"/>
          </a:xfrm>
          <a:prstGeom prst="rect">
            <a:avLst/>
          </a:prstGeom>
          <a:noFill/>
          <a:ln/>
        </p:spPr>
        <p:txBody>
          <a:bodyPr wrap="square" lIns="0" tIns="0" rIns="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The efficient frontier of total rewards plots ______ against ______.</a:t>
            </a:r>
            <a:endParaRPr lang="en-US" sz="1400" dirty="0"/>
          </a:p>
        </p:txBody>
      </p:sp>
      <p:sp>
        <p:nvSpPr>
          <p:cNvPr id="14" name="Shape 12"/>
          <p:cNvSpPr/>
          <p:nvPr/>
        </p:nvSpPr>
        <p:spPr>
          <a:xfrm>
            <a:off x="548640" y="2414016"/>
            <a:ext cx="384048" cy="384048"/>
          </a:xfrm>
          <a:prstGeom prst="ellipse">
            <a:avLst/>
          </a:prstGeom>
          <a:solidFill>
            <a:srgbClr val="5C7A8A"/>
          </a:solidFill>
          <a:ln w="12700">
            <a:solidFill>
              <a:srgbClr val="5C7A8A"/>
            </a:solidFill>
            <a:prstDash val="solid"/>
          </a:ln>
        </p:spPr>
      </p:sp>
      <p:sp>
        <p:nvSpPr>
          <p:cNvPr id="15" name="Text 13"/>
          <p:cNvSpPr txBox="1"/>
          <p:nvPr/>
        </p:nvSpPr>
        <p:spPr>
          <a:xfrm>
            <a:off x="548640" y="2414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1097280" y="2414016"/>
            <a:ext cx="7498080" cy="502920"/>
          </a:xfrm>
          <a:prstGeom prst="rect">
            <a:avLst/>
          </a:prstGeom>
          <a:noFill/>
          <a:ln/>
        </p:spPr>
        <p:txBody>
          <a:bodyPr wrap="square" lIns="0" tIns="0" rIns="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In the authors’ pay-mix trial, which fixed/variable mix won after one year?</a:t>
            </a:r>
            <a:endParaRPr lang="en-US" sz="1400" dirty="0"/>
          </a:p>
        </p:txBody>
      </p:sp>
      <p:sp>
        <p:nvSpPr>
          <p:cNvPr id="17" name="Shape 15"/>
          <p:cNvSpPr/>
          <p:nvPr/>
        </p:nvSpPr>
        <p:spPr>
          <a:xfrm>
            <a:off x="548640" y="3072384"/>
            <a:ext cx="384048" cy="384048"/>
          </a:xfrm>
          <a:prstGeom prst="ellipse">
            <a:avLst/>
          </a:prstGeom>
          <a:solidFill>
            <a:srgbClr val="5C7A8A"/>
          </a:solidFill>
          <a:ln w="12700">
            <a:solidFill>
              <a:srgbClr val="5C7A8A"/>
            </a:solidFill>
            <a:prstDash val="solid"/>
          </a:ln>
        </p:spPr>
      </p:sp>
      <p:sp>
        <p:nvSpPr>
          <p:cNvPr id="18" name="Text 16"/>
          <p:cNvSpPr txBox="1"/>
          <p:nvPr/>
        </p:nvSpPr>
        <p:spPr>
          <a:xfrm>
            <a:off x="548640" y="3072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9" name="Text 17"/>
          <p:cNvSpPr txBox="1"/>
          <p:nvPr/>
        </p:nvSpPr>
        <p:spPr>
          <a:xfrm>
            <a:off x="1097280" y="3072384"/>
            <a:ext cx="7498080" cy="502920"/>
          </a:xfrm>
          <a:prstGeom prst="rect">
            <a:avLst/>
          </a:prstGeom>
          <a:noFill/>
          <a:ln/>
        </p:spPr>
        <p:txBody>
          <a:bodyPr wrap="square" lIns="0" tIns="0" rIns="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Name two of the three things CG-5 imposes on variable pay at a Hong Kong bank.</a:t>
            </a:r>
            <a:endParaRPr lang="en-US" sz="1400" dirty="0"/>
          </a:p>
        </p:txBody>
      </p:sp>
      <p:sp>
        <p:nvSpPr>
          <p:cNvPr id="20" name="Shape 18"/>
          <p:cNvSpPr/>
          <p:nvPr/>
        </p:nvSpPr>
        <p:spPr>
          <a:xfrm>
            <a:off x="548640" y="3730752"/>
            <a:ext cx="384048" cy="384048"/>
          </a:xfrm>
          <a:prstGeom prst="ellipse">
            <a:avLst/>
          </a:prstGeom>
          <a:solidFill>
            <a:srgbClr val="5C7A8A"/>
          </a:solidFill>
          <a:ln w="12700">
            <a:solidFill>
              <a:srgbClr val="5C7A8A"/>
            </a:solidFill>
            <a:prstDash val="solid"/>
          </a:ln>
        </p:spPr>
      </p:sp>
      <p:sp>
        <p:nvSpPr>
          <p:cNvPr id="21" name="Text 19"/>
          <p:cNvSpPr txBox="1"/>
          <p:nvPr/>
        </p:nvSpPr>
        <p:spPr>
          <a:xfrm>
            <a:off x="548640" y="3730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2" name="Text 20"/>
          <p:cNvSpPr txBox="1"/>
          <p:nvPr/>
        </p:nvSpPr>
        <p:spPr>
          <a:xfrm>
            <a:off x="1097280" y="3730752"/>
            <a:ext cx="7498080" cy="502920"/>
          </a:xfrm>
          <a:prstGeom prst="rect">
            <a:avLst/>
          </a:prstGeom>
          <a:noFill/>
          <a:ln/>
        </p:spPr>
        <p:txBody>
          <a:bodyPr wrap="square" lIns="0" tIns="0" rIns="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True or false: what a benefit costs the firm equals what it is worth to the employee.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0–8 min · hook</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Kestrel Pay is a fictional Hong Kong payments company; all figures are synthetic</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4</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The number you planned with</a:t>
            </a:r>
            <a:endParaRPr lang="en-US" sz="2400" dirty="0"/>
          </a:p>
        </p:txBody>
      </p:sp>
      <p:sp>
        <p:nvSpPr>
          <p:cNvPr id="8" name="Text 6"/>
          <p:cNvSpPr txBox="1"/>
          <p:nvPr/>
        </p:nvSpPr>
        <p:spPr>
          <a:xfrm>
            <a:off x="914400" y="1371600"/>
            <a:ext cx="3017520" cy="914400"/>
          </a:xfrm>
          <a:prstGeom prst="rect">
            <a:avLst/>
          </a:prstGeom>
          <a:noFill/>
          <a:ln/>
        </p:spPr>
        <p:txBody>
          <a:bodyPr wrap="square" lIns="0" tIns="0" rIns="0" bIns="0" rtlCol="0" anchor="ctr"/>
          <a:lstStyle/>
          <a:p>
            <a:pPr algn="ctr" indent="0" marL="0">
              <a:buNone/>
            </a:pPr>
            <a:r>
              <a:rPr lang="en-US" sz="5400" b="1" dirty="0">
                <a:solidFill>
                  <a:srgbClr val="5C7A8A"/>
                </a:solidFill>
                <a:latin typeface="Cambria" pitchFamily="34" charset="0"/>
                <a:ea typeface="Cambria" pitchFamily="34" charset="-122"/>
                <a:cs typeface="Cambria" pitchFamily="34" charset="-120"/>
              </a:rPr>
              <a:t>22%</a:t>
            </a:r>
            <a:endParaRPr lang="en-US" sz="5400" dirty="0"/>
          </a:p>
        </p:txBody>
      </p:sp>
      <p:sp>
        <p:nvSpPr>
          <p:cNvPr id="9" name="Text 7"/>
          <p:cNvSpPr txBox="1"/>
          <p:nvPr/>
        </p:nvSpPr>
        <p:spPr>
          <a:xfrm>
            <a:off x="914400" y="2304288"/>
            <a:ext cx="3017520" cy="68580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the attrition rate you used to plan 60 hires</a:t>
            </a:r>
            <a:endParaRPr lang="en-US" sz="1200" dirty="0"/>
          </a:p>
        </p:txBody>
      </p:sp>
      <p:sp>
        <p:nvSpPr>
          <p:cNvPr id="10" name="Shape 8"/>
          <p:cNvSpPr/>
          <p:nvPr/>
        </p:nvSpPr>
        <p:spPr>
          <a:xfrm>
            <a:off x="4023360" y="1600200"/>
            <a:ext cx="1097280" cy="548640"/>
          </a:xfrm>
          <a:prstGeom prst="rightArrow">
            <a:avLst/>
          </a:prstGeom>
          <a:solidFill>
            <a:srgbClr val="E4EAEE"/>
          </a:solidFill>
          <a:ln w="12700">
            <a:solidFill>
              <a:srgbClr val="E4EAEE"/>
            </a:solidFill>
            <a:prstDash val="solid"/>
          </a:ln>
        </p:spPr>
      </p:sp>
      <p:sp>
        <p:nvSpPr>
          <p:cNvPr id="11" name="Text 9"/>
          <p:cNvSpPr txBox="1"/>
          <p:nvPr/>
        </p:nvSpPr>
        <p:spPr>
          <a:xfrm>
            <a:off x="5212080" y="1371600"/>
            <a:ext cx="3017520" cy="914400"/>
          </a:xfrm>
          <a:prstGeom prst="rect">
            <a:avLst/>
          </a:prstGeom>
          <a:noFill/>
          <a:ln/>
        </p:spPr>
        <p:txBody>
          <a:bodyPr wrap="square" lIns="0" tIns="0" rIns="0" bIns="0" rtlCol="0" anchor="ctr"/>
          <a:lstStyle/>
          <a:p>
            <a:pPr algn="ctr" indent="0" marL="0">
              <a:buNone/>
            </a:pPr>
            <a:r>
              <a:rPr lang="en-US" sz="5400" b="1" dirty="0">
                <a:solidFill>
                  <a:srgbClr val="C8553D"/>
                </a:solidFill>
                <a:latin typeface="Cambria" pitchFamily="34" charset="0"/>
                <a:ea typeface="Cambria" pitchFamily="34" charset="-122"/>
                <a:cs typeface="Cambria" pitchFamily="34" charset="-120"/>
              </a:rPr>
              <a:t>26%</a:t>
            </a:r>
            <a:endParaRPr lang="en-US" sz="5400" dirty="0"/>
          </a:p>
        </p:txBody>
      </p:sp>
      <p:sp>
        <p:nvSpPr>
          <p:cNvPr id="12" name="Text 10"/>
          <p:cNvSpPr txBox="1"/>
          <p:nvPr/>
        </p:nvSpPr>
        <p:spPr>
          <a:xfrm>
            <a:off x="5212080" y="2304288"/>
            <a:ext cx="3017520" cy="68580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the rate Kestrel Pay is running at now</a:t>
            </a:r>
            <a:endParaRPr lang="en-US" sz="1200" dirty="0"/>
          </a:p>
        </p:txBody>
      </p:sp>
      <p:sp>
        <p:nvSpPr>
          <p:cNvPr id="13" name="Shape 11"/>
          <p:cNvSpPr/>
          <p:nvPr/>
        </p:nvSpPr>
        <p:spPr>
          <a:xfrm>
            <a:off x="731520" y="3200400"/>
            <a:ext cx="7680960" cy="1188720"/>
          </a:xfrm>
          <a:prstGeom prst="roundRect">
            <a:avLst>
              <a:gd name="adj" fmla="val 6154"/>
            </a:avLst>
          </a:prstGeom>
          <a:solidFill>
            <a:srgbClr val="F8ECE7"/>
          </a:solidFill>
          <a:ln w="12700">
            <a:solidFill>
              <a:srgbClr val="F8ECE7"/>
            </a:solidFill>
            <a:prstDash val="solid"/>
          </a:ln>
        </p:spPr>
      </p:sp>
      <p:sp>
        <p:nvSpPr>
          <p:cNvPr id="14" name="Text 12"/>
          <p:cNvSpPr txBox="1"/>
          <p:nvPr/>
        </p:nvSpPr>
        <p:spPr>
          <a:xfrm>
            <a:off x="914400" y="3291840"/>
            <a:ext cx="7315200" cy="1005840"/>
          </a:xfrm>
          <a:prstGeom prst="rect">
            <a:avLst/>
          </a:prstGeom>
          <a:noFill/>
          <a:ln/>
        </p:spPr>
        <p:txBody>
          <a:bodyPr wrap="square" lIns="0" tIns="0" rIns="0" bIns="0" rtlCol="0" anchor="ctr"/>
          <a:lstStyle/>
          <a:p>
            <a:pPr algn="l" indent="0" marL="0">
              <a:buNone/>
            </a:pPr>
            <a:r>
              <a:rPr lang="en-US" sz="1500" i="1" dirty="0">
                <a:solidFill>
                  <a:srgbClr val="1F2933"/>
                </a:solidFill>
                <a:latin typeface="Cambria" pitchFamily="34" charset="0"/>
                <a:ea typeface="Cambria" pitchFamily="34" charset="-122"/>
                <a:cs typeface="Cambria" pitchFamily="34" charset="-120"/>
              </a:rPr>
              <a:t>Watch the sheet. Same plan, one number changed. How many more hires, how much more cost, how many more months before the team is at strength?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8–20 min · video</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VIDEO  ·  Cathy O’Neil, “The era of blind faith in big data must end” (TED, 2017)  ·  play a 6–8 minute cut, English subtitles on</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5</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Before you watch</a:t>
            </a:r>
            <a:endParaRPr lang="en-US" sz="2400" dirty="0"/>
          </a:p>
        </p:txBody>
      </p:sp>
      <p:sp>
        <p:nvSpPr>
          <p:cNvPr id="8" name="Shape 6"/>
          <p:cNvSpPr/>
          <p:nvPr/>
        </p:nvSpPr>
        <p:spPr>
          <a:xfrm>
            <a:off x="548640" y="1097280"/>
            <a:ext cx="8046720" cy="1920240"/>
          </a:xfrm>
          <a:prstGeom prst="roundRect">
            <a:avLst>
              <a:gd name="adj" fmla="val 3810"/>
            </a:avLst>
          </a:prstGeom>
          <a:solidFill>
            <a:srgbClr val="F3F6F8"/>
          </a:solidFill>
          <a:ln w="12700">
            <a:solidFill>
              <a:srgbClr val="F3F6F8"/>
            </a:solidFill>
            <a:prstDash val="solid"/>
          </a:ln>
        </p:spPr>
      </p:sp>
      <p:sp>
        <p:nvSpPr>
          <p:cNvPr id="9" name="Text 7"/>
          <p:cNvSpPr txBox="1"/>
          <p:nvPr/>
        </p:nvSpPr>
        <p:spPr>
          <a:xfrm>
            <a:off x="777240" y="1234440"/>
            <a:ext cx="7589520" cy="1645920"/>
          </a:xfrm>
          <a:prstGeom prst="rect">
            <a:avLst/>
          </a:prstGeom>
          <a:noFill/>
          <a:ln/>
        </p:spPr>
        <p:txBody>
          <a:bodyPr wrap="square" lIns="0" tIns="0" rIns="0" bIns="0" rtlCol="0" anchor="ctr"/>
          <a:lstStyle/>
          <a:p>
            <a:pPr algn="l" indent="0" marL="0">
              <a:buNone/>
            </a:pPr>
            <a:r>
              <a:rPr lang="en-US" sz="1600" i="1" dirty="0">
                <a:solidFill>
                  <a:srgbClr val="1F2933"/>
                </a:solidFill>
                <a:latin typeface="Cambria" pitchFamily="34" charset="0"/>
                <a:ea typeface="Cambria" pitchFamily="34" charset="-122"/>
                <a:cs typeface="Cambria" pitchFamily="34" charset="-120"/>
              </a:rPr>
              <a:t>“In ninety minutes you will be handed forty named people with a risk score next to each name, and you will decide what happens to them. Before that, watch this. She is a mathematician. She gives conditions that turn an ordinary model into what she calls a weapon of math destruction. Write them down.”</a:t>
            </a:r>
            <a:endParaRPr lang="en-US" sz="1600" dirty="0"/>
          </a:p>
        </p:txBody>
      </p:sp>
      <p:sp>
        <p:nvSpPr>
          <p:cNvPr id="10" name="Text 8"/>
          <p:cNvSpPr txBox="1"/>
          <p:nvPr/>
        </p:nvSpPr>
        <p:spPr>
          <a:xfrm>
            <a:off x="548640" y="3291840"/>
            <a:ext cx="8046720" cy="457200"/>
          </a:xfrm>
          <a:prstGeom prst="rect">
            <a:avLst/>
          </a:prstGeom>
          <a:noFill/>
          <a:ln/>
        </p:spPr>
        <p:txBody>
          <a:bodyPr wrap="square" lIns="0" tIns="0" rIns="0" bIns="0" rtlCol="0" anchor="t"/>
          <a:lstStyle/>
          <a:p>
            <a:pPr algn="l" indent="0" marL="0">
              <a:buNone/>
            </a:pPr>
            <a:r>
              <a:rPr lang="en-US" sz="1500" b="1" dirty="0">
                <a:solidFill>
                  <a:srgbClr val="1F2933"/>
                </a:solidFill>
                <a:latin typeface="Calibri" pitchFamily="34" charset="0"/>
                <a:ea typeface="Calibri" pitchFamily="34" charset="-122"/>
                <a:cs typeface="Calibri" pitchFamily="34" charset="-120"/>
              </a:rPr>
              <a:t>One job while you watch: list her conditions. Nothing else.</a:t>
            </a:r>
            <a:endParaRPr lang="en-US" sz="1500" dirty="0"/>
          </a:p>
        </p:txBody>
      </p:sp>
      <p:sp>
        <p:nvSpPr>
          <p:cNvPr id="11" name="Text 9"/>
          <p:cNvSpPr txBox="1"/>
          <p:nvPr/>
        </p:nvSpPr>
        <p:spPr>
          <a:xfrm>
            <a:off x="548640" y="3840480"/>
            <a:ext cx="8046720" cy="731520"/>
          </a:xfrm>
          <a:prstGeom prst="rect">
            <a:avLst/>
          </a:prstGeom>
          <a:noFill/>
          <a:ln/>
        </p:spPr>
        <p:txBody>
          <a:bodyPr wrap="square" lIns="0" tIns="0" rIns="0" bIns="0" rtlCol="0" anchor="t"/>
          <a:lstStyle/>
          <a:p>
            <a:pPr algn="l" indent="0" marL="0">
              <a:buNone/>
            </a:pPr>
            <a:r>
              <a:rPr lang="en-US" sz="1100" dirty="0">
                <a:solidFill>
                  <a:srgbClr val="52606D"/>
                </a:solidFill>
                <a:latin typeface="Calibri" pitchFamily="34" charset="0"/>
                <a:ea typeface="Calibri" pitchFamily="34" charset="-122"/>
                <a:cs typeface="Calibri" pitchFamily="34" charset="-120"/>
              </a:rPr>
              <a:t>If you chose a different clip: Lindor (“Why great people quit good jobs”) — write down what she says people actually quit. Low-Kramen (“The real reasons people quit”) — count her reasons and ask whether an exit interview would ever record them.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8–20 min · debrief</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answers go into the shared document, “Video” section</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6</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Three questions — type, then talk</a:t>
            </a:r>
            <a:endParaRPr lang="en-US" sz="2400" dirty="0"/>
          </a:p>
        </p:txBody>
      </p:sp>
      <p:sp>
        <p:nvSpPr>
          <p:cNvPr id="8" name="Shape 6"/>
          <p:cNvSpPr/>
          <p:nvPr/>
        </p:nvSpPr>
        <p:spPr>
          <a:xfrm>
            <a:off x="548640" y="1097280"/>
            <a:ext cx="8046720" cy="1005840"/>
          </a:xfrm>
          <a:prstGeom prst="roundRect">
            <a:avLst>
              <a:gd name="adj" fmla="val 7273"/>
            </a:avLst>
          </a:prstGeom>
          <a:solidFill>
            <a:srgbClr val="F3F6F8"/>
          </a:solidFill>
          <a:ln w="12700">
            <a:solidFill>
              <a:srgbClr val="F3F6F8"/>
            </a:solidFill>
            <a:prstDash val="solid"/>
          </a:ln>
        </p:spPr>
      </p:sp>
      <p:sp>
        <p:nvSpPr>
          <p:cNvPr id="9" name="Text 7"/>
          <p:cNvSpPr txBox="1"/>
          <p:nvPr/>
        </p:nvSpPr>
        <p:spPr>
          <a:xfrm>
            <a:off x="685800" y="1188720"/>
            <a:ext cx="777240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Question 1</a:t>
            </a:r>
            <a:endParaRPr lang="en-US" sz="1200" dirty="0"/>
          </a:p>
        </p:txBody>
      </p:sp>
      <p:sp>
        <p:nvSpPr>
          <p:cNvPr id="10" name="Text 8"/>
          <p:cNvSpPr txBox="1"/>
          <p:nvPr/>
        </p:nvSpPr>
        <p:spPr>
          <a:xfrm>
            <a:off x="685800" y="1447800"/>
            <a:ext cx="7772400" cy="5638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What are her conditions? Hold our attrition model up against them — how many does it meet?</a:t>
            </a:r>
            <a:endParaRPr lang="en-US" sz="1400" dirty="0"/>
          </a:p>
        </p:txBody>
      </p:sp>
      <p:sp>
        <p:nvSpPr>
          <p:cNvPr id="11" name="Shape 9"/>
          <p:cNvSpPr/>
          <p:nvPr/>
        </p:nvSpPr>
        <p:spPr>
          <a:xfrm>
            <a:off x="548640" y="2194560"/>
            <a:ext cx="8046720" cy="1005840"/>
          </a:xfrm>
          <a:prstGeom prst="roundRect">
            <a:avLst>
              <a:gd name="adj" fmla="val 7273"/>
            </a:avLst>
          </a:prstGeom>
          <a:solidFill>
            <a:srgbClr val="F3F6F8"/>
          </a:solidFill>
          <a:ln w="12700">
            <a:solidFill>
              <a:srgbClr val="F3F6F8"/>
            </a:solidFill>
            <a:prstDash val="solid"/>
          </a:ln>
        </p:spPr>
      </p:sp>
      <p:sp>
        <p:nvSpPr>
          <p:cNvPr id="12" name="Text 10"/>
          <p:cNvSpPr txBox="1"/>
          <p:nvPr/>
        </p:nvSpPr>
        <p:spPr>
          <a:xfrm>
            <a:off x="685800" y="2286000"/>
            <a:ext cx="777240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Question 2</a:t>
            </a:r>
            <a:endParaRPr lang="en-US" sz="1200" dirty="0"/>
          </a:p>
        </p:txBody>
      </p:sp>
      <p:sp>
        <p:nvSpPr>
          <p:cNvPr id="13" name="Text 11"/>
          <p:cNvSpPr txBox="1"/>
          <p:nvPr/>
        </p:nvSpPr>
        <p:spPr>
          <a:xfrm>
            <a:off x="685800" y="2545080"/>
            <a:ext cx="7772400" cy="5638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She says a model encodes the past. What past would a Hong Kong attrition model be encoding?</a:t>
            </a:r>
            <a:endParaRPr lang="en-US" sz="1400" dirty="0"/>
          </a:p>
        </p:txBody>
      </p:sp>
      <p:sp>
        <p:nvSpPr>
          <p:cNvPr id="14" name="Shape 12"/>
          <p:cNvSpPr/>
          <p:nvPr/>
        </p:nvSpPr>
        <p:spPr>
          <a:xfrm>
            <a:off x="548640" y="3291840"/>
            <a:ext cx="8046720" cy="1005840"/>
          </a:xfrm>
          <a:prstGeom prst="roundRect">
            <a:avLst>
              <a:gd name="adj" fmla="val 7273"/>
            </a:avLst>
          </a:prstGeom>
          <a:solidFill>
            <a:srgbClr val="F3F6F8"/>
          </a:solidFill>
          <a:ln w="12700">
            <a:solidFill>
              <a:srgbClr val="F3F6F8"/>
            </a:solidFill>
            <a:prstDash val="solid"/>
          </a:ln>
        </p:spPr>
      </p:sp>
      <p:sp>
        <p:nvSpPr>
          <p:cNvPr id="15" name="Text 13"/>
          <p:cNvSpPr txBox="1"/>
          <p:nvPr/>
        </p:nvSpPr>
        <p:spPr>
          <a:xfrm>
            <a:off x="685800" y="3383280"/>
            <a:ext cx="777240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Question 3</a:t>
            </a:r>
            <a:endParaRPr lang="en-US" sz="1200" dirty="0"/>
          </a:p>
        </p:txBody>
      </p:sp>
      <p:sp>
        <p:nvSpPr>
          <p:cNvPr id="16" name="Text 14"/>
          <p:cNvSpPr txBox="1"/>
          <p:nvPr/>
        </p:nvSpPr>
        <p:spPr>
          <a:xfrm>
            <a:off x="685800" y="3642360"/>
            <a:ext cx="7772400" cy="5638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She wants audits. Who audits yours — and what would they even look at?</a:t>
            </a:r>
            <a:endParaRPr lang="en-US" sz="1400" dirty="0"/>
          </a:p>
        </p:txBody>
      </p:sp>
      <p:sp>
        <p:nvSpPr>
          <p:cNvPr id="17" name="Text 15"/>
          <p:cNvSpPr txBox="1"/>
          <p:nvPr/>
        </p:nvSpPr>
        <p:spPr>
          <a:xfrm>
            <a:off x="548640" y="4297680"/>
            <a:ext cx="8046720" cy="365760"/>
          </a:xfrm>
          <a:prstGeom prst="rect">
            <a:avLst/>
          </a:prstGeom>
          <a:noFill/>
          <a:ln/>
        </p:spPr>
        <p:txBody>
          <a:bodyPr wrap="square" lIns="0" tIns="0" rIns="0" bIns="0" rtlCol="0" anchor="t"/>
          <a:lstStyle/>
          <a:p>
            <a:pPr algn="l" indent="0" marL="0">
              <a:buNone/>
            </a:pPr>
            <a:r>
              <a:rPr lang="en-US" sz="1200" i="1" dirty="0">
                <a:solidFill>
                  <a:srgbClr val="52606D"/>
                </a:solidFill>
                <a:latin typeface="Calibri" pitchFamily="34" charset="0"/>
                <a:ea typeface="Calibri" pitchFamily="34" charset="-122"/>
                <a:cs typeface="Calibri" pitchFamily="34" charset="-120"/>
              </a:rPr>
              <a:t>She is a critic. Is any of her criticism overstated? Say so.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20–28 min · words 1–4</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Terms are pre-filled in the shared document; you only point</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7</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Eight words for today (1–4)</a:t>
            </a:r>
            <a:endParaRPr lang="en-US" sz="2400" dirty="0"/>
          </a:p>
        </p:txBody>
      </p:sp>
      <p:sp>
        <p:nvSpPr>
          <p:cNvPr id="8" name="Shape 6"/>
          <p:cNvSpPr/>
          <p:nvPr/>
        </p:nvSpPr>
        <p:spPr>
          <a:xfrm>
            <a:off x="457200" y="1051560"/>
            <a:ext cx="4023360" cy="1691640"/>
          </a:xfrm>
          <a:prstGeom prst="roundRect">
            <a:avLst>
              <a:gd name="adj" fmla="val 4324"/>
            </a:avLst>
          </a:prstGeom>
          <a:solidFill>
            <a:srgbClr val="F3F6F8"/>
          </a:solidFill>
          <a:ln w="12700">
            <a:solidFill>
              <a:srgbClr val="F3F6F8"/>
            </a:solidFill>
            <a:prstDash val="solid"/>
          </a:ln>
        </p:spPr>
      </p:sp>
      <p:sp>
        <p:nvSpPr>
          <p:cNvPr id="9" name="Text 7"/>
          <p:cNvSpPr txBox="1"/>
          <p:nvPr/>
        </p:nvSpPr>
        <p:spPr>
          <a:xfrm>
            <a:off x="594360" y="11430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regretted &amp; avoidable turnover</a:t>
            </a:r>
            <a:endParaRPr lang="en-US" sz="1300" dirty="0"/>
          </a:p>
        </p:txBody>
      </p:sp>
      <p:sp>
        <p:nvSpPr>
          <p:cNvPr id="10" name="Text 8"/>
          <p:cNvSpPr txBox="1"/>
          <p:nvPr/>
        </p:nvSpPr>
        <p:spPr>
          <a:xfrm>
            <a:off x="594360" y="1417574"/>
            <a:ext cx="3749040" cy="996442"/>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Voluntary vs involuntary; then the one box worth managing: people you were sorry to lose and could have kept. A top-rated engineer who leaves over a stalled promotion — yes. A retirement — no.</a:t>
            </a:r>
            <a:endParaRPr lang="en-US" sz="1150" dirty="0"/>
          </a:p>
        </p:txBody>
      </p:sp>
      <p:sp>
        <p:nvSpPr>
          <p:cNvPr id="11" name="Text 9"/>
          <p:cNvSpPr txBox="1"/>
          <p:nvPr/>
        </p:nvSpPr>
        <p:spPr>
          <a:xfrm>
            <a:off x="594360" y="24505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INSTRUCTOR · standard HRM classification</a:t>
            </a:r>
            <a:endParaRPr lang="en-US" sz="850" dirty="0"/>
          </a:p>
        </p:txBody>
      </p:sp>
      <p:sp>
        <p:nvSpPr>
          <p:cNvPr id="12" name="Shape 10"/>
          <p:cNvSpPr/>
          <p:nvPr/>
        </p:nvSpPr>
        <p:spPr>
          <a:xfrm>
            <a:off x="4663440" y="1051560"/>
            <a:ext cx="4023360" cy="1691640"/>
          </a:xfrm>
          <a:prstGeom prst="roundRect">
            <a:avLst>
              <a:gd name="adj" fmla="val 4324"/>
            </a:avLst>
          </a:prstGeom>
          <a:solidFill>
            <a:srgbClr val="F3F6F8"/>
          </a:solidFill>
          <a:ln w="12700">
            <a:solidFill>
              <a:srgbClr val="F3F6F8"/>
            </a:solidFill>
            <a:prstDash val="solid"/>
          </a:ln>
        </p:spPr>
      </p:sp>
      <p:sp>
        <p:nvSpPr>
          <p:cNvPr id="13" name="Text 11"/>
          <p:cNvSpPr txBox="1"/>
          <p:nvPr/>
        </p:nvSpPr>
        <p:spPr>
          <a:xfrm>
            <a:off x="4800600" y="11430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turnover intention</a:t>
            </a:r>
            <a:endParaRPr lang="en-US" sz="1300" dirty="0"/>
          </a:p>
        </p:txBody>
      </p:sp>
      <p:sp>
        <p:nvSpPr>
          <p:cNvPr id="14" name="Text 12"/>
          <p:cNvSpPr txBox="1"/>
          <p:nvPr/>
        </p:nvSpPr>
        <p:spPr>
          <a:xfrm>
            <a:off x="4800600" y="1417574"/>
            <a:ext cx="3749040" cy="996442"/>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 plan to leave.” The commonest outcome variable in turnover research, because the people who actually left are no longer in your data. Survey item: “I will look for a new job within 12 months.”</a:t>
            </a:r>
            <a:endParaRPr lang="en-US" sz="1150" dirty="0"/>
          </a:p>
        </p:txBody>
      </p:sp>
      <p:sp>
        <p:nvSpPr>
          <p:cNvPr id="15" name="Text 13"/>
          <p:cNvSpPr txBox="1"/>
          <p:nvPr/>
        </p:nvSpPr>
        <p:spPr>
          <a:xfrm>
            <a:off x="4800600" y="24505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IMPORTED THEORY · last link in Mobley’s (1977) chain</a:t>
            </a:r>
            <a:endParaRPr lang="en-US" sz="850" dirty="0"/>
          </a:p>
        </p:txBody>
      </p:sp>
      <p:sp>
        <p:nvSpPr>
          <p:cNvPr id="16" name="Shape 14"/>
          <p:cNvSpPr/>
          <p:nvPr/>
        </p:nvSpPr>
        <p:spPr>
          <a:xfrm>
            <a:off x="457200" y="2880360"/>
            <a:ext cx="4023360" cy="1691640"/>
          </a:xfrm>
          <a:prstGeom prst="roundRect">
            <a:avLst>
              <a:gd name="adj" fmla="val 4324"/>
            </a:avLst>
          </a:prstGeom>
          <a:solidFill>
            <a:srgbClr val="F3F6F8"/>
          </a:solidFill>
          <a:ln w="12700">
            <a:solidFill>
              <a:srgbClr val="F3F6F8"/>
            </a:solidFill>
            <a:prstDash val="solid"/>
          </a:ln>
        </p:spPr>
      </p:sp>
      <p:sp>
        <p:nvSpPr>
          <p:cNvPr id="17" name="Text 15"/>
          <p:cNvSpPr txBox="1"/>
          <p:nvPr/>
        </p:nvSpPr>
        <p:spPr>
          <a:xfrm>
            <a:off x="594360" y="2971800"/>
            <a:ext cx="3749040" cy="439420"/>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turnover drivers: external / organisational / individual</a:t>
            </a:r>
            <a:endParaRPr lang="en-US" sz="1300" dirty="0"/>
          </a:p>
        </p:txBody>
      </p:sp>
      <p:sp>
        <p:nvSpPr>
          <p:cNvPr id="18" name="Text 16"/>
          <p:cNvSpPr txBox="1"/>
          <p:nvPr/>
        </p:nvSpPr>
        <p:spPr>
          <a:xfrm>
            <a:off x="594360" y="3447796"/>
            <a:ext cx="3749040" cy="7950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textbook’s three buckets from the India case: pay levels, competition, overseas openings · job profile, ratings, the manager, promotion · further study, relocation, alma mater, tenure, gender.</a:t>
            </a:r>
            <a:endParaRPr lang="en-US" sz="1150" dirty="0"/>
          </a:p>
        </p:txBody>
      </p:sp>
      <p:sp>
        <p:nvSpPr>
          <p:cNvPr id="19" name="Text 17"/>
          <p:cNvSpPr txBox="1"/>
          <p:nvPr/>
        </p:nvSpPr>
        <p:spPr>
          <a:xfrm>
            <a:off x="594360" y="42793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TEXTBOOK · Ch.5 p.106–107</a:t>
            </a:r>
            <a:endParaRPr lang="en-US" sz="850" dirty="0"/>
          </a:p>
        </p:txBody>
      </p:sp>
      <p:sp>
        <p:nvSpPr>
          <p:cNvPr id="20" name="Shape 18"/>
          <p:cNvSpPr/>
          <p:nvPr/>
        </p:nvSpPr>
        <p:spPr>
          <a:xfrm>
            <a:off x="4663440" y="2880360"/>
            <a:ext cx="4023360" cy="1691640"/>
          </a:xfrm>
          <a:prstGeom prst="roundRect">
            <a:avLst>
              <a:gd name="adj" fmla="val 4324"/>
            </a:avLst>
          </a:prstGeom>
          <a:solidFill>
            <a:srgbClr val="F3F6F8"/>
          </a:solidFill>
          <a:ln w="12700">
            <a:solidFill>
              <a:srgbClr val="F3F6F8"/>
            </a:solidFill>
            <a:prstDash val="solid"/>
          </a:ln>
        </p:spPr>
      </p:sp>
      <p:sp>
        <p:nvSpPr>
          <p:cNvPr id="21" name="Text 19"/>
          <p:cNvSpPr txBox="1"/>
          <p:nvPr/>
        </p:nvSpPr>
        <p:spPr>
          <a:xfrm>
            <a:off x="4800600" y="29718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quick exits</a:t>
            </a:r>
            <a:endParaRPr lang="en-US" sz="1300" dirty="0"/>
          </a:p>
        </p:txBody>
      </p:sp>
      <p:sp>
        <p:nvSpPr>
          <p:cNvPr id="22" name="Text 20"/>
          <p:cNvSpPr txBox="1"/>
          <p:nvPr/>
        </p:nvSpPr>
        <p:spPr>
          <a:xfrm>
            <a:off x="4800600" y="3246374"/>
            <a:ext cx="3749040" cy="996442"/>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Leaving soon after joining. A Singapore bank lost 40% of new sales hires within eight months; a supermarket chain lost two in five new hires inside a year.</a:t>
            </a:r>
            <a:endParaRPr lang="en-US" sz="1150" dirty="0"/>
          </a:p>
        </p:txBody>
      </p:sp>
      <p:sp>
        <p:nvSpPr>
          <p:cNvPr id="23" name="Text 21"/>
          <p:cNvSpPr txBox="1"/>
          <p:nvPr/>
        </p:nvSpPr>
        <p:spPr>
          <a:xfrm>
            <a:off x="4800600" y="42793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TEXTBOOK · Ch.5 p.112–113; Ch.11 p.228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20–28 min · words 5–8</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The last three are the technical bridge — concept only; the mechanics belong to Dr Lee</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8</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Eight words for today (5–8)</a:t>
            </a:r>
            <a:endParaRPr lang="en-US" sz="2400" dirty="0"/>
          </a:p>
        </p:txBody>
      </p:sp>
      <p:sp>
        <p:nvSpPr>
          <p:cNvPr id="8" name="Shape 6"/>
          <p:cNvSpPr/>
          <p:nvPr/>
        </p:nvSpPr>
        <p:spPr>
          <a:xfrm>
            <a:off x="457200" y="1051560"/>
            <a:ext cx="4023360" cy="1691640"/>
          </a:xfrm>
          <a:prstGeom prst="roundRect">
            <a:avLst>
              <a:gd name="adj" fmla="val 4324"/>
            </a:avLst>
          </a:prstGeom>
          <a:solidFill>
            <a:srgbClr val="F3F6F8"/>
          </a:solidFill>
          <a:ln w="12700">
            <a:solidFill>
              <a:srgbClr val="F3F6F8"/>
            </a:solidFill>
            <a:prstDash val="solid"/>
          </a:ln>
        </p:spPr>
      </p:sp>
      <p:sp>
        <p:nvSpPr>
          <p:cNvPr id="9" name="Text 7"/>
          <p:cNvSpPr txBox="1"/>
          <p:nvPr/>
        </p:nvSpPr>
        <p:spPr>
          <a:xfrm>
            <a:off x="594360" y="11430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symptom vs problem</a:t>
            </a:r>
            <a:endParaRPr lang="en-US" sz="1300" dirty="0"/>
          </a:p>
        </p:txBody>
      </p:sp>
      <p:sp>
        <p:nvSpPr>
          <p:cNvPr id="10" name="Text 8"/>
          <p:cNvSpPr txBox="1"/>
          <p:nvPr/>
        </p:nvSpPr>
        <p:spPr>
          <a:xfrm>
            <a:off x="594360" y="1417574"/>
            <a:ext cx="3749040" cy="996442"/>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Early attrition is a symptom. The problem was “is the bank losing revenue opportunities?”. How you define the problem decides what your Y variable is.</a:t>
            </a:r>
            <a:endParaRPr lang="en-US" sz="1150" dirty="0"/>
          </a:p>
        </p:txBody>
      </p:sp>
      <p:sp>
        <p:nvSpPr>
          <p:cNvPr id="11" name="Text 9"/>
          <p:cNvSpPr txBox="1"/>
          <p:nvPr/>
        </p:nvSpPr>
        <p:spPr>
          <a:xfrm>
            <a:off x="594360" y="24505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TEXTBOOK · Ch.5 p.114; Ch.4 p.73</a:t>
            </a:r>
            <a:endParaRPr lang="en-US" sz="850" dirty="0"/>
          </a:p>
        </p:txBody>
      </p:sp>
      <p:sp>
        <p:nvSpPr>
          <p:cNvPr id="12" name="Shape 10"/>
          <p:cNvSpPr/>
          <p:nvPr/>
        </p:nvSpPr>
        <p:spPr>
          <a:xfrm>
            <a:off x="4663440" y="1051560"/>
            <a:ext cx="4023360" cy="1691640"/>
          </a:xfrm>
          <a:prstGeom prst="roundRect">
            <a:avLst>
              <a:gd name="adj" fmla="val 4324"/>
            </a:avLst>
          </a:prstGeom>
          <a:solidFill>
            <a:srgbClr val="F3F6F8"/>
          </a:solidFill>
          <a:ln w="12700">
            <a:solidFill>
              <a:srgbClr val="F3F6F8"/>
            </a:solidFill>
            <a:prstDash val="solid"/>
          </a:ln>
        </p:spPr>
      </p:sp>
      <p:sp>
        <p:nvSpPr>
          <p:cNvPr id="13" name="Text 11"/>
          <p:cNvSpPr txBox="1"/>
          <p:nvPr/>
        </p:nvSpPr>
        <p:spPr>
          <a:xfrm>
            <a:off x="4800600" y="1143000"/>
            <a:ext cx="3749040" cy="439420"/>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confusion matrix · false positive / false negative</a:t>
            </a:r>
            <a:endParaRPr lang="en-US" sz="1300" dirty="0"/>
          </a:p>
        </p:txBody>
      </p:sp>
      <p:sp>
        <p:nvSpPr>
          <p:cNvPr id="14" name="Text 12"/>
          <p:cNvSpPr txBox="1"/>
          <p:nvPr/>
        </p:nvSpPr>
        <p:spPr>
          <a:xfrm>
            <a:off x="4800600" y="1618996"/>
            <a:ext cx="3749040" cy="79502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Four boxes: flagged and left; flagged and stayed (false positive); not flagged and left (false negative); not flagged and stayed. Textbook: a wrong hire is a false positive; the right person never hired is never known.</a:t>
            </a:r>
            <a:endParaRPr lang="en-US" sz="1050" dirty="0"/>
          </a:p>
        </p:txBody>
      </p:sp>
      <p:sp>
        <p:nvSpPr>
          <p:cNvPr id="15" name="Text 13"/>
          <p:cNvSpPr txBox="1"/>
          <p:nvPr/>
        </p:nvSpPr>
        <p:spPr>
          <a:xfrm>
            <a:off x="4800600" y="24505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TEXTBOOK · Ch.5 p.118 + INSTRUCTOR (priced in HK$)</a:t>
            </a:r>
            <a:endParaRPr lang="en-US" sz="850" dirty="0"/>
          </a:p>
        </p:txBody>
      </p:sp>
      <p:sp>
        <p:nvSpPr>
          <p:cNvPr id="16" name="Shape 14"/>
          <p:cNvSpPr/>
          <p:nvPr/>
        </p:nvSpPr>
        <p:spPr>
          <a:xfrm>
            <a:off x="457200" y="2880360"/>
            <a:ext cx="4023360" cy="1691640"/>
          </a:xfrm>
          <a:prstGeom prst="roundRect">
            <a:avLst>
              <a:gd name="adj" fmla="val 4324"/>
            </a:avLst>
          </a:prstGeom>
          <a:solidFill>
            <a:srgbClr val="F3F6F8"/>
          </a:solidFill>
          <a:ln w="12700">
            <a:solidFill>
              <a:srgbClr val="F3F6F8"/>
            </a:solidFill>
            <a:prstDash val="solid"/>
          </a:ln>
        </p:spPr>
      </p:sp>
      <p:sp>
        <p:nvSpPr>
          <p:cNvPr id="17" name="Text 15"/>
          <p:cNvSpPr txBox="1"/>
          <p:nvPr/>
        </p:nvSpPr>
        <p:spPr>
          <a:xfrm>
            <a:off x="594360" y="29718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decision threshold</a:t>
            </a:r>
            <a:endParaRPr lang="en-US" sz="1300" dirty="0"/>
          </a:p>
        </p:txBody>
      </p:sp>
      <p:sp>
        <p:nvSpPr>
          <p:cNvPr id="18" name="Text 16"/>
          <p:cNvSpPr txBox="1"/>
          <p:nvPr/>
        </p:nvSpPr>
        <p:spPr>
          <a:xfrm>
            <a:off x="594360" y="3246374"/>
            <a:ext cx="3749040" cy="996442"/>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model gives a score between 0 and 1. Where you cut is not in the model. It is a management decision with a cost on each side.</a:t>
            </a:r>
            <a:endParaRPr lang="en-US" sz="1150" dirty="0"/>
          </a:p>
        </p:txBody>
      </p:sp>
      <p:sp>
        <p:nvSpPr>
          <p:cNvPr id="19" name="Text 17"/>
          <p:cNvSpPr txBox="1"/>
          <p:nvPr/>
        </p:nvSpPr>
        <p:spPr>
          <a:xfrm>
            <a:off x="594360" y="42793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INSTRUCTOR · the most important sentence of the series</a:t>
            </a:r>
            <a:endParaRPr lang="en-US" sz="850" dirty="0"/>
          </a:p>
        </p:txBody>
      </p:sp>
      <p:sp>
        <p:nvSpPr>
          <p:cNvPr id="20" name="Shape 18"/>
          <p:cNvSpPr/>
          <p:nvPr/>
        </p:nvSpPr>
        <p:spPr>
          <a:xfrm>
            <a:off x="4663440" y="2880360"/>
            <a:ext cx="4023360" cy="1691640"/>
          </a:xfrm>
          <a:prstGeom prst="roundRect">
            <a:avLst>
              <a:gd name="adj" fmla="val 4324"/>
            </a:avLst>
          </a:prstGeom>
          <a:solidFill>
            <a:srgbClr val="F3F6F8"/>
          </a:solidFill>
          <a:ln w="12700">
            <a:solidFill>
              <a:srgbClr val="F3F6F8"/>
            </a:solidFill>
            <a:prstDash val="solid"/>
          </a:ln>
        </p:spPr>
      </p:sp>
      <p:sp>
        <p:nvSpPr>
          <p:cNvPr id="21" name="Text 19"/>
          <p:cNvSpPr txBox="1"/>
          <p:nvPr/>
        </p:nvSpPr>
        <p:spPr>
          <a:xfrm>
            <a:off x="4800600" y="29718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class imbalance</a:t>
            </a:r>
            <a:endParaRPr lang="en-US" sz="1300" dirty="0"/>
          </a:p>
        </p:txBody>
      </p:sp>
      <p:sp>
        <p:nvSpPr>
          <p:cNvPr id="22" name="Text 20"/>
          <p:cNvSpPr txBox="1"/>
          <p:nvPr/>
        </p:nvSpPr>
        <p:spPr>
          <a:xfrm>
            <a:off x="4800600" y="3246374"/>
            <a:ext cx="3749040" cy="996442"/>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If 12% of people leave, a model that predicts nobody leaves is 88% accurate. So “accuracy” on its own is not an answer.</a:t>
            </a:r>
            <a:endParaRPr lang="en-US" sz="1150" dirty="0"/>
          </a:p>
        </p:txBody>
      </p:sp>
      <p:sp>
        <p:nvSpPr>
          <p:cNvPr id="23" name="Text 21"/>
          <p:cNvSpPr txBox="1"/>
          <p:nvPr/>
        </p:nvSpPr>
        <p:spPr>
          <a:xfrm>
            <a:off x="4800600" y="4279392"/>
            <a:ext cx="37490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INSTRUCTOR · used at minute 73 against a published 85%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933"/>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E4EAEE"/>
                </a:solidFill>
                <a:latin typeface="Calibri" pitchFamily="34" charset="0"/>
                <a:ea typeface="Calibri" pitchFamily="34" charset="-122"/>
                <a:cs typeface="Calibri" pitchFamily="34" charset="-120"/>
              </a:rPr>
              <a:t>28–42 min · Theory A</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E4EAEE"/>
                </a:solidFill>
                <a:latin typeface="Calibri" pitchFamily="34" charset="0"/>
                <a:ea typeface="Calibri" pitchFamily="34" charset="-122"/>
                <a:cs typeface="Calibri" pitchFamily="34" charset="-120"/>
              </a:rPr>
              <a:t>IMPORTED THEORY  ·  not on your reading list  ·  authors and years only; volume and page locators not verified</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E4EAEE"/>
                </a:solidFill>
                <a:latin typeface="Calibri" pitchFamily="34" charset="0"/>
                <a:ea typeface="Calibri" pitchFamily="34" charset="-122"/>
                <a:cs typeface="Calibri" pitchFamily="34" charset="-120"/>
              </a:rPr>
              <a:t>9</a:t>
            </a:r>
            <a:endParaRPr lang="en-US" sz="900" dirty="0"/>
          </a:p>
        </p:txBody>
      </p:sp>
      <p:sp>
        <p:nvSpPr>
          <p:cNvPr id="7" name="Text 5"/>
          <p:cNvSpPr txBox="1"/>
          <p:nvPr/>
        </p:nvSpPr>
        <p:spPr>
          <a:xfrm>
            <a:off x="548640" y="457200"/>
            <a:ext cx="3657600" cy="320040"/>
          </a:xfrm>
          <a:prstGeom prst="rect">
            <a:avLst/>
          </a:prstGeom>
          <a:noFill/>
          <a:ln/>
        </p:spPr>
        <p:txBody>
          <a:bodyPr wrap="square" lIns="0" tIns="0" rIns="0" bIns="0" rtlCol="0" anchor="t"/>
          <a:lstStyle/>
          <a:p>
            <a:pPr algn="l" indent="0" marL="0">
              <a:buNone/>
            </a:pPr>
            <a:r>
              <a:rPr lang="en-US" sz="1200" b="1" dirty="0">
                <a:solidFill>
                  <a:srgbClr val="E4EAEE"/>
                </a:solidFill>
                <a:latin typeface="Calibri" pitchFamily="34" charset="0"/>
                <a:ea typeface="Calibri" pitchFamily="34" charset="-122"/>
                <a:cs typeface="Calibri" pitchFamily="34" charset="-120"/>
              </a:rPr>
              <a:t>THEORY A</a:t>
            </a:r>
            <a:endParaRPr lang="en-US" sz="1200" dirty="0"/>
          </a:p>
        </p:txBody>
      </p:sp>
      <p:sp>
        <p:nvSpPr>
          <p:cNvPr id="8" name="Text 6"/>
          <p:cNvSpPr txBox="1"/>
          <p:nvPr/>
        </p:nvSpPr>
        <p:spPr>
          <a:xfrm>
            <a:off x="548640" y="82296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Turnover process models</a:t>
            </a:r>
            <a:endParaRPr lang="en-US" sz="3400" dirty="0"/>
          </a:p>
        </p:txBody>
      </p:sp>
      <p:sp>
        <p:nvSpPr>
          <p:cNvPr id="9" name="Shape 7"/>
          <p:cNvSpPr/>
          <p:nvPr/>
        </p:nvSpPr>
        <p:spPr>
          <a:xfrm>
            <a:off x="548640" y="1783080"/>
            <a:ext cx="8046720" cy="1325880"/>
          </a:xfrm>
          <a:prstGeom prst="roundRect">
            <a:avLst>
              <a:gd name="adj" fmla="val 5517"/>
            </a:avLst>
          </a:prstGeom>
          <a:solidFill>
            <a:srgbClr val="2B3A46"/>
          </a:solidFill>
          <a:ln w="12700">
            <a:solidFill>
              <a:srgbClr val="2B3A46"/>
            </a:solidFill>
            <a:prstDash val="solid"/>
          </a:ln>
        </p:spPr>
      </p:sp>
      <p:sp>
        <p:nvSpPr>
          <p:cNvPr id="10" name="Text 8"/>
          <p:cNvSpPr txBox="1"/>
          <p:nvPr/>
        </p:nvSpPr>
        <p:spPr>
          <a:xfrm>
            <a:off x="777240" y="1874520"/>
            <a:ext cx="7589520" cy="274320"/>
          </a:xfrm>
          <a:prstGeom prst="rect">
            <a:avLst/>
          </a:prstGeom>
          <a:noFill/>
          <a:ln/>
        </p:spPr>
        <p:txBody>
          <a:bodyPr wrap="square" lIns="0" tIns="0" rIns="0" bIns="0" rtlCol="0" anchor="t"/>
          <a:lstStyle/>
          <a:p>
            <a:pPr algn="l" indent="0" marL="0">
              <a:buNone/>
            </a:pPr>
            <a:r>
              <a:rPr lang="en-US" sz="1100" b="1" dirty="0">
                <a:solidFill>
                  <a:srgbClr val="E4EAEE"/>
                </a:solidFill>
                <a:latin typeface="Calibri" pitchFamily="34" charset="0"/>
                <a:ea typeface="Calibri" pitchFamily="34" charset="-122"/>
                <a:cs typeface="Calibri" pitchFamily="34" charset="-120"/>
              </a:rPr>
              <a:t>Line 1 — the claim</a:t>
            </a:r>
            <a:endParaRPr lang="en-US" sz="1100" dirty="0"/>
          </a:p>
        </p:txBody>
      </p:sp>
      <p:sp>
        <p:nvSpPr>
          <p:cNvPr id="11" name="Text 9"/>
          <p:cNvSpPr txBox="1"/>
          <p:nvPr/>
        </p:nvSpPr>
        <p:spPr>
          <a:xfrm>
            <a:off x="777240" y="2148840"/>
            <a:ext cx="7589520" cy="914400"/>
          </a:xfrm>
          <a:prstGeom prst="rect">
            <a:avLst/>
          </a:prstGeom>
          <a:noFill/>
          <a:ln/>
        </p:spPr>
        <p:txBody>
          <a:bodyPr wrap="square" lIns="0" tIns="0" rIns="0" bIns="0" rtlCol="0" anchor="t"/>
          <a:lstStyle/>
          <a:p>
            <a:pPr algn="l" indent="0" marL="0">
              <a:buNone/>
            </a:pPr>
            <a:r>
              <a:rPr lang="en-US" sz="1600" dirty="0">
                <a:solidFill>
                  <a:srgbClr val="FFFFFF"/>
                </a:solidFill>
                <a:latin typeface="Cambria" pitchFamily="34" charset="0"/>
                <a:ea typeface="Cambria" pitchFamily="34" charset="-122"/>
                <a:cs typeface="Cambria" pitchFamily="34" charset="-120"/>
              </a:rPr>
              <a:t>Turnover = perceived desirability of movement (do I want to go?) × perceived ease of movement (can I go?). A chain of intermediate steps sits between “unhappy” and “gone”.</a:t>
            </a:r>
            <a:endParaRPr lang="en-US" sz="1600" dirty="0"/>
          </a:p>
        </p:txBody>
      </p:sp>
      <p:sp>
        <p:nvSpPr>
          <p:cNvPr id="12" name="Shape 10"/>
          <p:cNvSpPr/>
          <p:nvPr/>
        </p:nvSpPr>
        <p:spPr>
          <a:xfrm>
            <a:off x="548640" y="3246120"/>
            <a:ext cx="8046720" cy="1188720"/>
          </a:xfrm>
          <a:prstGeom prst="roundRect">
            <a:avLst>
              <a:gd name="adj" fmla="val 6154"/>
            </a:avLst>
          </a:prstGeom>
          <a:solidFill>
            <a:srgbClr val="2B3A46"/>
          </a:solidFill>
          <a:ln w="12700">
            <a:solidFill>
              <a:srgbClr val="2B3A46"/>
            </a:solidFill>
            <a:prstDash val="solid"/>
          </a:ln>
        </p:spPr>
      </p:sp>
      <p:sp>
        <p:nvSpPr>
          <p:cNvPr id="13" name="Text 11"/>
          <p:cNvSpPr txBox="1"/>
          <p:nvPr/>
        </p:nvSpPr>
        <p:spPr>
          <a:xfrm>
            <a:off x="777240" y="3337560"/>
            <a:ext cx="7589520" cy="274320"/>
          </a:xfrm>
          <a:prstGeom prst="rect">
            <a:avLst/>
          </a:prstGeom>
          <a:noFill/>
          <a:ln/>
        </p:spPr>
        <p:txBody>
          <a:bodyPr wrap="square" lIns="0" tIns="0" rIns="0" bIns="0" rtlCol="0" anchor="t"/>
          <a:lstStyle/>
          <a:p>
            <a:pPr algn="l" indent="0" marL="0">
              <a:buNone/>
            </a:pPr>
            <a:r>
              <a:rPr lang="en-US" sz="1100" b="1" dirty="0">
                <a:solidFill>
                  <a:srgbClr val="E4EAEE"/>
                </a:solidFill>
                <a:latin typeface="Calibri" pitchFamily="34" charset="0"/>
                <a:ea typeface="Calibri" pitchFamily="34" charset="-122"/>
                <a:cs typeface="Calibri" pitchFamily="34" charset="-120"/>
              </a:rPr>
              <a:t>Line 2 — the source</a:t>
            </a:r>
            <a:endParaRPr lang="en-US" sz="1100" dirty="0"/>
          </a:p>
        </p:txBody>
      </p:sp>
      <p:sp>
        <p:nvSpPr>
          <p:cNvPr id="14" name="Text 12"/>
          <p:cNvSpPr txBox="1"/>
          <p:nvPr/>
        </p:nvSpPr>
        <p:spPr>
          <a:xfrm>
            <a:off x="777240" y="3611880"/>
            <a:ext cx="7589520" cy="77724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March &amp; Simon (1958), Organizations  ·  Mobley (1977), Journal of Applied Psychology  ·  Limit: Lee &amp; Mitchell (1994), the unfolding model. Not on your reading list — imported.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28–42 min · the two axes</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IMPORTED THEORY · March &amp; Simon (1958)  ·  “organisational commitment” as a driver of desirability is later literature, not the 1958 original</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10</a:t>
            </a:r>
            <a:endParaRPr lang="en-US" sz="900" dirty="0"/>
          </a:p>
        </p:txBody>
      </p:sp>
      <p:sp>
        <p:nvSpPr>
          <p:cNvPr id="7" name="Text 5"/>
          <p:cNvSpPr txBox="1"/>
          <p:nvPr/>
        </p:nvSpPr>
        <p:spPr>
          <a:xfrm>
            <a:off x="1005840" y="347472"/>
            <a:ext cx="45720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Two questions, multiplied</a:t>
            </a:r>
            <a:endParaRPr lang="en-US" sz="2400" dirty="0"/>
          </a:p>
        </p:txBody>
      </p:sp>
      <p:sp>
        <p:nvSpPr>
          <p:cNvPr id="8" name="Shape 6"/>
          <p:cNvSpPr/>
          <p:nvPr/>
        </p:nvSpPr>
        <p:spPr>
          <a:xfrm>
            <a:off x="822960" y="1143000"/>
            <a:ext cx="2148840" cy="1417320"/>
          </a:xfrm>
          <a:prstGeom prst="roundRect">
            <a:avLst>
              <a:gd name="adj" fmla="val 3871"/>
            </a:avLst>
          </a:prstGeom>
          <a:solidFill>
            <a:srgbClr val="F8ECE7"/>
          </a:solidFill>
          <a:ln w="12700">
            <a:solidFill>
              <a:srgbClr val="F8ECE7"/>
            </a:solidFill>
            <a:prstDash val="solid"/>
          </a:ln>
        </p:spPr>
      </p:sp>
      <p:sp>
        <p:nvSpPr>
          <p:cNvPr id="9" name="Text 7"/>
          <p:cNvSpPr txBox="1"/>
          <p:nvPr/>
        </p:nvSpPr>
        <p:spPr>
          <a:xfrm>
            <a:off x="932688" y="1234440"/>
            <a:ext cx="1929384" cy="457200"/>
          </a:xfrm>
          <a:prstGeom prst="rect">
            <a:avLst/>
          </a:prstGeom>
          <a:noFill/>
          <a:ln/>
        </p:spPr>
        <p:txBody>
          <a:bodyPr wrap="square" lIns="0" tIns="0" rIns="0" bIns="0" rtlCol="0" anchor="t"/>
          <a:lstStyle/>
          <a:p>
            <a:pPr algn="l" indent="0" marL="0">
              <a:buNone/>
            </a:pPr>
            <a:r>
              <a:rPr lang="en-US" sz="1100" b="1" dirty="0">
                <a:solidFill>
                  <a:srgbClr val="1F2933"/>
                </a:solidFill>
                <a:latin typeface="Calibri" pitchFamily="34" charset="0"/>
                <a:ea typeface="Calibri" pitchFamily="34" charset="-122"/>
                <a:cs typeface="Calibri" pitchFamily="34" charset="-120"/>
              </a:rPr>
              <a:t>Wants to go · Can go</a:t>
            </a:r>
            <a:endParaRPr lang="en-US" sz="1100" dirty="0"/>
          </a:p>
        </p:txBody>
      </p:sp>
      <p:sp>
        <p:nvSpPr>
          <p:cNvPr id="10" name="Text 8"/>
          <p:cNvSpPr txBox="1"/>
          <p:nvPr/>
        </p:nvSpPr>
        <p:spPr>
          <a:xfrm>
            <a:off x="932688" y="1737360"/>
            <a:ext cx="1929384" cy="731520"/>
          </a:xfrm>
          <a:prstGeom prst="rect">
            <a:avLst/>
          </a:prstGeom>
          <a:noFill/>
          <a:ln/>
        </p:spPr>
        <p:txBody>
          <a:bodyPr wrap="square" lIns="0" tIns="0" rIns="0" bIns="0" rtlCol="0" anchor="t"/>
          <a:lstStyle/>
          <a:p>
            <a:pPr algn="l" indent="0" marL="0">
              <a:buNone/>
            </a:pPr>
            <a:r>
              <a:rPr lang="en-US" sz="1250" i="1" dirty="0">
                <a:solidFill>
                  <a:srgbClr val="1F2933"/>
                </a:solidFill>
                <a:latin typeface="Cambria" pitchFamily="34" charset="0"/>
                <a:ea typeface="Cambria" pitchFamily="34" charset="-122"/>
                <a:cs typeface="Cambria" pitchFamily="34" charset="-120"/>
              </a:rPr>
              <a:t>Leaves.</a:t>
            </a:r>
            <a:endParaRPr lang="en-US" sz="1250" dirty="0"/>
          </a:p>
        </p:txBody>
      </p:sp>
      <p:sp>
        <p:nvSpPr>
          <p:cNvPr id="11" name="Shape 9"/>
          <p:cNvSpPr/>
          <p:nvPr/>
        </p:nvSpPr>
        <p:spPr>
          <a:xfrm>
            <a:off x="3063240" y="1143000"/>
            <a:ext cx="2148840" cy="1417320"/>
          </a:xfrm>
          <a:prstGeom prst="roundRect">
            <a:avLst>
              <a:gd name="adj" fmla="val 3871"/>
            </a:avLst>
          </a:prstGeom>
          <a:solidFill>
            <a:srgbClr val="F3F6F8"/>
          </a:solidFill>
          <a:ln w="12700">
            <a:solidFill>
              <a:srgbClr val="F3F6F8"/>
            </a:solidFill>
            <a:prstDash val="solid"/>
          </a:ln>
        </p:spPr>
      </p:sp>
      <p:sp>
        <p:nvSpPr>
          <p:cNvPr id="12" name="Text 10"/>
          <p:cNvSpPr txBox="1"/>
          <p:nvPr/>
        </p:nvSpPr>
        <p:spPr>
          <a:xfrm>
            <a:off x="3172968" y="1234440"/>
            <a:ext cx="1929384" cy="457200"/>
          </a:xfrm>
          <a:prstGeom prst="rect">
            <a:avLst/>
          </a:prstGeom>
          <a:noFill/>
          <a:ln/>
        </p:spPr>
        <p:txBody>
          <a:bodyPr wrap="square" lIns="0" tIns="0" rIns="0" bIns="0" rtlCol="0" anchor="t"/>
          <a:lstStyle/>
          <a:p>
            <a:pPr algn="l" indent="0" marL="0">
              <a:buNone/>
            </a:pPr>
            <a:r>
              <a:rPr lang="en-US" sz="1100" b="1" dirty="0">
                <a:solidFill>
                  <a:srgbClr val="1F2933"/>
                </a:solidFill>
                <a:latin typeface="Calibri" pitchFamily="34" charset="0"/>
                <a:ea typeface="Calibri" pitchFamily="34" charset="-122"/>
                <a:cs typeface="Calibri" pitchFamily="34" charset="-120"/>
              </a:rPr>
              <a:t>Wants to go · Cannot go</a:t>
            </a:r>
            <a:endParaRPr lang="en-US" sz="1100" dirty="0"/>
          </a:p>
        </p:txBody>
      </p:sp>
      <p:sp>
        <p:nvSpPr>
          <p:cNvPr id="13" name="Text 11"/>
          <p:cNvSpPr txBox="1"/>
          <p:nvPr/>
        </p:nvSpPr>
        <p:spPr>
          <a:xfrm>
            <a:off x="3172968" y="1737360"/>
            <a:ext cx="1929384" cy="731520"/>
          </a:xfrm>
          <a:prstGeom prst="rect">
            <a:avLst/>
          </a:prstGeom>
          <a:noFill/>
          <a:ln/>
        </p:spPr>
        <p:txBody>
          <a:bodyPr wrap="square" lIns="0" tIns="0" rIns="0" bIns="0" rtlCol="0" anchor="t"/>
          <a:lstStyle/>
          <a:p>
            <a:pPr algn="l" indent="0" marL="0">
              <a:buNone/>
            </a:pPr>
            <a:r>
              <a:rPr lang="en-US" sz="1250" i="1" dirty="0">
                <a:solidFill>
                  <a:srgbClr val="1F2933"/>
                </a:solidFill>
                <a:latin typeface="Cambria" pitchFamily="34" charset="0"/>
                <a:ea typeface="Cambria" pitchFamily="34" charset="-122"/>
                <a:cs typeface="Cambria" pitchFamily="34" charset="-120"/>
              </a:rPr>
              <a:t>Stays — trapped. (The visa case lands here.)</a:t>
            </a:r>
            <a:endParaRPr lang="en-US" sz="1250" dirty="0"/>
          </a:p>
        </p:txBody>
      </p:sp>
      <p:sp>
        <p:nvSpPr>
          <p:cNvPr id="14" name="Shape 12"/>
          <p:cNvSpPr/>
          <p:nvPr/>
        </p:nvSpPr>
        <p:spPr>
          <a:xfrm>
            <a:off x="822960" y="2651760"/>
            <a:ext cx="2148840" cy="1417320"/>
          </a:xfrm>
          <a:prstGeom prst="roundRect">
            <a:avLst>
              <a:gd name="adj" fmla="val 3871"/>
            </a:avLst>
          </a:prstGeom>
          <a:solidFill>
            <a:srgbClr val="E4EAEE"/>
          </a:solidFill>
          <a:ln w="12700">
            <a:solidFill>
              <a:srgbClr val="E4EAEE"/>
            </a:solidFill>
            <a:prstDash val="solid"/>
          </a:ln>
        </p:spPr>
      </p:sp>
      <p:sp>
        <p:nvSpPr>
          <p:cNvPr id="15" name="Text 13"/>
          <p:cNvSpPr txBox="1"/>
          <p:nvPr/>
        </p:nvSpPr>
        <p:spPr>
          <a:xfrm>
            <a:off x="932688" y="2743200"/>
            <a:ext cx="1929384" cy="457200"/>
          </a:xfrm>
          <a:prstGeom prst="rect">
            <a:avLst/>
          </a:prstGeom>
          <a:noFill/>
          <a:ln/>
        </p:spPr>
        <p:txBody>
          <a:bodyPr wrap="square" lIns="0" tIns="0" rIns="0" bIns="0" rtlCol="0" anchor="t"/>
          <a:lstStyle/>
          <a:p>
            <a:pPr algn="l" indent="0" marL="0">
              <a:buNone/>
            </a:pPr>
            <a:r>
              <a:rPr lang="en-US" sz="1100" b="1" dirty="0">
                <a:solidFill>
                  <a:srgbClr val="1F2933"/>
                </a:solidFill>
                <a:latin typeface="Calibri" pitchFamily="34" charset="0"/>
                <a:ea typeface="Calibri" pitchFamily="34" charset="-122"/>
                <a:cs typeface="Calibri" pitchFamily="34" charset="-120"/>
              </a:rPr>
              <a:t>Does not want to go · Can go</a:t>
            </a:r>
            <a:endParaRPr lang="en-US" sz="1100" dirty="0"/>
          </a:p>
        </p:txBody>
      </p:sp>
      <p:sp>
        <p:nvSpPr>
          <p:cNvPr id="16" name="Text 14"/>
          <p:cNvSpPr txBox="1"/>
          <p:nvPr/>
        </p:nvSpPr>
        <p:spPr>
          <a:xfrm>
            <a:off x="932688" y="3246120"/>
            <a:ext cx="1929384" cy="731520"/>
          </a:xfrm>
          <a:prstGeom prst="rect">
            <a:avLst/>
          </a:prstGeom>
          <a:noFill/>
          <a:ln/>
        </p:spPr>
        <p:txBody>
          <a:bodyPr wrap="square" lIns="0" tIns="0" rIns="0" bIns="0" rtlCol="0" anchor="t"/>
          <a:lstStyle/>
          <a:p>
            <a:pPr algn="l" indent="0" marL="0">
              <a:buNone/>
            </a:pPr>
            <a:r>
              <a:rPr lang="en-US" sz="1250" i="1" dirty="0">
                <a:solidFill>
                  <a:srgbClr val="1F2933"/>
                </a:solidFill>
                <a:latin typeface="Cambria" pitchFamily="34" charset="0"/>
                <a:ea typeface="Cambria" pitchFamily="34" charset="-122"/>
                <a:cs typeface="Cambria" pitchFamily="34" charset="-120"/>
              </a:rPr>
              <a:t>The person you must keep.</a:t>
            </a:r>
            <a:endParaRPr lang="en-US" sz="1250" dirty="0"/>
          </a:p>
        </p:txBody>
      </p:sp>
      <p:sp>
        <p:nvSpPr>
          <p:cNvPr id="17" name="Shape 15"/>
          <p:cNvSpPr/>
          <p:nvPr/>
        </p:nvSpPr>
        <p:spPr>
          <a:xfrm>
            <a:off x="3063240" y="2651760"/>
            <a:ext cx="2148840" cy="1417320"/>
          </a:xfrm>
          <a:prstGeom prst="roundRect">
            <a:avLst>
              <a:gd name="adj" fmla="val 3871"/>
            </a:avLst>
          </a:prstGeom>
          <a:solidFill>
            <a:srgbClr val="F3F6F8"/>
          </a:solidFill>
          <a:ln w="12700">
            <a:solidFill>
              <a:srgbClr val="F3F6F8"/>
            </a:solidFill>
            <a:prstDash val="solid"/>
          </a:ln>
        </p:spPr>
      </p:sp>
      <p:sp>
        <p:nvSpPr>
          <p:cNvPr id="18" name="Text 16"/>
          <p:cNvSpPr txBox="1"/>
          <p:nvPr/>
        </p:nvSpPr>
        <p:spPr>
          <a:xfrm>
            <a:off x="3172968" y="2743200"/>
            <a:ext cx="1929384" cy="457200"/>
          </a:xfrm>
          <a:prstGeom prst="rect">
            <a:avLst/>
          </a:prstGeom>
          <a:noFill/>
          <a:ln/>
        </p:spPr>
        <p:txBody>
          <a:bodyPr wrap="square" lIns="0" tIns="0" rIns="0" bIns="0" rtlCol="0" anchor="t"/>
          <a:lstStyle/>
          <a:p>
            <a:pPr algn="l" indent="0" marL="0">
              <a:buNone/>
            </a:pPr>
            <a:r>
              <a:rPr lang="en-US" sz="1100" b="1" dirty="0">
                <a:solidFill>
                  <a:srgbClr val="1F2933"/>
                </a:solidFill>
                <a:latin typeface="Calibri" pitchFamily="34" charset="0"/>
                <a:ea typeface="Calibri" pitchFamily="34" charset="-122"/>
                <a:cs typeface="Calibri" pitchFamily="34" charset="-120"/>
              </a:rPr>
              <a:t>Does not want to go · Cannot go</a:t>
            </a:r>
            <a:endParaRPr lang="en-US" sz="1100" dirty="0"/>
          </a:p>
        </p:txBody>
      </p:sp>
      <p:sp>
        <p:nvSpPr>
          <p:cNvPr id="19" name="Text 17"/>
          <p:cNvSpPr txBox="1"/>
          <p:nvPr/>
        </p:nvSpPr>
        <p:spPr>
          <a:xfrm>
            <a:off x="3172968" y="3246120"/>
            <a:ext cx="1929384" cy="731520"/>
          </a:xfrm>
          <a:prstGeom prst="rect">
            <a:avLst/>
          </a:prstGeom>
          <a:noFill/>
          <a:ln/>
        </p:spPr>
        <p:txBody>
          <a:bodyPr wrap="square" lIns="0" tIns="0" rIns="0" bIns="0" rtlCol="0" anchor="t"/>
          <a:lstStyle/>
          <a:p>
            <a:pPr algn="l" indent="0" marL="0">
              <a:buNone/>
            </a:pPr>
            <a:r>
              <a:rPr lang="en-US" sz="1250" i="1" dirty="0">
                <a:solidFill>
                  <a:srgbClr val="1F2933"/>
                </a:solidFill>
                <a:latin typeface="Cambria" pitchFamily="34" charset="0"/>
                <a:ea typeface="Cambria" pitchFamily="34" charset="-122"/>
                <a:cs typeface="Cambria" pitchFamily="34" charset="-120"/>
              </a:rPr>
              <a:t>No risk. No signal either.</a:t>
            </a:r>
            <a:endParaRPr lang="en-US" sz="1250" dirty="0"/>
          </a:p>
        </p:txBody>
      </p:sp>
      <p:sp>
        <p:nvSpPr>
          <p:cNvPr id="20" name="Text 18"/>
          <p:cNvSpPr txBox="1"/>
          <p:nvPr/>
        </p:nvSpPr>
        <p:spPr>
          <a:xfrm>
            <a:off x="822960" y="4160520"/>
            <a:ext cx="4389120" cy="274320"/>
          </a:xfrm>
          <a:prstGeom prst="rect">
            <a:avLst/>
          </a:prstGeom>
          <a:noFill/>
          <a:ln/>
        </p:spPr>
        <p:txBody>
          <a:bodyPr wrap="square" lIns="0" tIns="0" rIns="0" bIns="0" rtlCol="0" anchor="t"/>
          <a:lstStyle/>
          <a:p>
            <a:pPr algn="ctr" indent="0" marL="0">
              <a:buNone/>
            </a:pPr>
            <a:r>
              <a:rPr lang="en-US" sz="1050" dirty="0">
                <a:solidFill>
                  <a:srgbClr val="52606D"/>
                </a:solidFill>
                <a:latin typeface="Calibri" pitchFamily="34" charset="0"/>
                <a:ea typeface="Calibri" pitchFamily="34" charset="-122"/>
                <a:cs typeface="Calibri" pitchFamily="34" charset="-120"/>
              </a:rPr>
              <a:t>← can I go?  (perceived ease of movement)</a:t>
            </a:r>
            <a:endParaRPr lang="en-US" sz="1050" dirty="0"/>
          </a:p>
        </p:txBody>
      </p:sp>
      <p:sp>
        <p:nvSpPr>
          <p:cNvPr id="21" name="Shape 19"/>
          <p:cNvSpPr/>
          <p:nvPr/>
        </p:nvSpPr>
        <p:spPr>
          <a:xfrm>
            <a:off x="5486400" y="1097280"/>
            <a:ext cx="3200400" cy="1554480"/>
          </a:xfrm>
          <a:prstGeom prst="roundRect">
            <a:avLst>
              <a:gd name="adj" fmla="val 4706"/>
            </a:avLst>
          </a:prstGeom>
          <a:solidFill>
            <a:srgbClr val="F3F6F8"/>
          </a:solidFill>
          <a:ln w="12700">
            <a:solidFill>
              <a:srgbClr val="F3F6F8"/>
            </a:solidFill>
            <a:prstDash val="solid"/>
          </a:ln>
        </p:spPr>
      </p:sp>
      <p:sp>
        <p:nvSpPr>
          <p:cNvPr id="22" name="Text 20"/>
          <p:cNvSpPr txBox="1"/>
          <p:nvPr/>
        </p:nvSpPr>
        <p:spPr>
          <a:xfrm>
            <a:off x="5623560" y="1188720"/>
            <a:ext cx="292608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Perceived desirability of movement</a:t>
            </a:r>
            <a:endParaRPr lang="en-US" sz="1200" dirty="0"/>
          </a:p>
        </p:txBody>
      </p:sp>
      <p:sp>
        <p:nvSpPr>
          <p:cNvPr id="23" name="Text 21"/>
          <p:cNvSpPr txBox="1"/>
          <p:nvPr/>
        </p:nvSpPr>
        <p:spPr>
          <a:xfrm>
            <a:off x="5623560" y="1447800"/>
            <a:ext cx="2926080" cy="1112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How much the person wants to leave. Usually tied to job satisfaction and organisational commitment. The original: satisfaction with the job, and whether a transfer inside the firm looks possible.</a:t>
            </a:r>
            <a:endParaRPr lang="en-US" sz="1100" dirty="0"/>
          </a:p>
        </p:txBody>
      </p:sp>
      <p:sp>
        <p:nvSpPr>
          <p:cNvPr id="24" name="Shape 22"/>
          <p:cNvSpPr/>
          <p:nvPr/>
        </p:nvSpPr>
        <p:spPr>
          <a:xfrm>
            <a:off x="5486400" y="2743200"/>
            <a:ext cx="3200400" cy="1554480"/>
          </a:xfrm>
          <a:prstGeom prst="roundRect">
            <a:avLst>
              <a:gd name="adj" fmla="val 4706"/>
            </a:avLst>
          </a:prstGeom>
          <a:solidFill>
            <a:srgbClr val="F3F6F8"/>
          </a:solidFill>
          <a:ln w="12700">
            <a:solidFill>
              <a:srgbClr val="F3F6F8"/>
            </a:solidFill>
            <a:prstDash val="solid"/>
          </a:ln>
        </p:spPr>
      </p:sp>
      <p:sp>
        <p:nvSpPr>
          <p:cNvPr id="25" name="Text 23"/>
          <p:cNvSpPr txBox="1"/>
          <p:nvPr/>
        </p:nvSpPr>
        <p:spPr>
          <a:xfrm>
            <a:off x="5623560" y="2834640"/>
            <a:ext cx="292608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Perceived ease of movement</a:t>
            </a:r>
            <a:endParaRPr lang="en-US" sz="1200" dirty="0"/>
          </a:p>
        </p:txBody>
      </p:sp>
      <p:sp>
        <p:nvSpPr>
          <p:cNvPr id="26" name="Text 24"/>
          <p:cNvSpPr txBox="1"/>
          <p:nvPr/>
        </p:nvSpPr>
        <p:spPr>
          <a:xfrm>
            <a:off x="5623560" y="3093720"/>
            <a:ext cx="2926080" cy="1112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How easily the person could find another job. Usually tied to the external economy and the job market. The original: how many outside options the person can see — business conditions, visible firms, and their own age, tenure and skills.</a:t>
            </a:r>
            <a:endParaRPr lang="en-US" sz="1100" dirty="0"/>
          </a:p>
        </p:txBody>
      </p:sp>
      <p:sp>
        <p:nvSpPr>
          <p:cNvPr id="27" name="Text 25"/>
          <p:cNvSpPr txBox="1"/>
          <p:nvPr/>
        </p:nvSpPr>
        <p:spPr>
          <a:xfrm>
            <a:off x="5486400" y="4334256"/>
            <a:ext cx="3200400" cy="365760"/>
          </a:xfrm>
          <a:prstGeom prst="rect">
            <a:avLst/>
          </a:prstGeom>
          <a:noFill/>
          <a:ln/>
        </p:spPr>
        <p:txBody>
          <a:bodyPr wrap="square" lIns="0" tIns="0" rIns="0" bIns="0" rtlCol="0" anchor="t"/>
          <a:lstStyle/>
          <a:p>
            <a:pPr algn="l" indent="0" marL="0">
              <a:buNone/>
            </a:pPr>
            <a:r>
              <a:rPr lang="en-US" sz="1100" i="1" dirty="0">
                <a:solidFill>
                  <a:srgbClr val="C8553D"/>
                </a:solidFill>
                <a:latin typeface="Cambria" pitchFamily="34" charset="0"/>
                <a:ea typeface="Cambria" pitchFamily="34" charset="-122"/>
                <a:cs typeface="Cambria" pitchFamily="34" charset="-120"/>
              </a:rPr>
              <a:t>Both are perceived. The model has neither; it has proxies.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28–42 min · the chain</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IMPORTED THEORY · Mobley (1977)  ·  “when” versus “whether”</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11</a:t>
            </a:r>
            <a:endParaRPr lang="en-US" sz="900" dirty="0"/>
          </a:p>
        </p:txBody>
      </p:sp>
      <p:sp>
        <p:nvSpPr>
          <p:cNvPr id="7" name="Text 5"/>
          <p:cNvSpPr txBox="1"/>
          <p:nvPr/>
        </p:nvSpPr>
        <p:spPr>
          <a:xfrm>
            <a:off x="1005840" y="347472"/>
            <a:ext cx="73152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What sits between “unhappy” and “gone”</a:t>
            </a:r>
            <a:endParaRPr lang="en-US" sz="2400" dirty="0"/>
          </a:p>
        </p:txBody>
      </p:sp>
      <p:sp>
        <p:nvSpPr>
          <p:cNvPr id="8" name="Shape 6"/>
          <p:cNvSpPr/>
          <p:nvPr/>
        </p:nvSpPr>
        <p:spPr>
          <a:xfrm>
            <a:off x="411480" y="1371600"/>
            <a:ext cx="1234440" cy="822960"/>
          </a:xfrm>
          <a:prstGeom prst="chevron">
            <a:avLst/>
          </a:prstGeom>
          <a:solidFill>
            <a:srgbClr val="E4EAEE"/>
          </a:solidFill>
          <a:ln w="12700">
            <a:solidFill>
              <a:srgbClr val="FFFFFF"/>
            </a:solidFill>
            <a:prstDash val="solid"/>
          </a:ln>
        </p:spPr>
      </p:sp>
      <p:sp>
        <p:nvSpPr>
          <p:cNvPr id="9" name="Text 7"/>
          <p:cNvSpPr txBox="1"/>
          <p:nvPr/>
        </p:nvSpPr>
        <p:spPr>
          <a:xfrm>
            <a:off x="612648" y="1417320"/>
            <a:ext cx="914400" cy="731520"/>
          </a:xfrm>
          <a:prstGeom prst="rect">
            <a:avLst/>
          </a:prstGeom>
          <a:noFill/>
          <a:ln/>
        </p:spPr>
        <p:txBody>
          <a:bodyPr wrap="square" lIns="0" tIns="0" rIns="0" bIns="0" rtlCol="0" anchor="ctr"/>
          <a:lstStyle/>
          <a:p>
            <a:pPr algn="l" indent="0" marL="0">
              <a:buNone/>
            </a:pPr>
            <a:r>
              <a:rPr lang="en-US" sz="950" b="1" dirty="0">
                <a:solidFill>
                  <a:srgbClr val="1F2933"/>
                </a:solidFill>
                <a:latin typeface="Calibri" pitchFamily="34" charset="0"/>
                <a:ea typeface="Calibri" pitchFamily="34" charset="-122"/>
                <a:cs typeface="Calibri" pitchFamily="34" charset="-120"/>
              </a:rPr>
              <a:t>Dissatisfaction</a:t>
            </a:r>
            <a:endParaRPr lang="en-US" sz="950" dirty="0"/>
          </a:p>
        </p:txBody>
      </p:sp>
      <p:sp>
        <p:nvSpPr>
          <p:cNvPr id="10" name="Shape 8"/>
          <p:cNvSpPr/>
          <p:nvPr/>
        </p:nvSpPr>
        <p:spPr>
          <a:xfrm>
            <a:off x="1600200" y="1371600"/>
            <a:ext cx="1234440" cy="822960"/>
          </a:xfrm>
          <a:prstGeom prst="chevron">
            <a:avLst/>
          </a:prstGeom>
          <a:solidFill>
            <a:srgbClr val="E4EAEE"/>
          </a:solidFill>
          <a:ln w="12700">
            <a:solidFill>
              <a:srgbClr val="FFFFFF"/>
            </a:solidFill>
            <a:prstDash val="solid"/>
          </a:ln>
        </p:spPr>
      </p:sp>
      <p:sp>
        <p:nvSpPr>
          <p:cNvPr id="11" name="Text 9"/>
          <p:cNvSpPr txBox="1"/>
          <p:nvPr/>
        </p:nvSpPr>
        <p:spPr>
          <a:xfrm>
            <a:off x="1801368" y="1417320"/>
            <a:ext cx="914400" cy="731520"/>
          </a:xfrm>
          <a:prstGeom prst="rect">
            <a:avLst/>
          </a:prstGeom>
          <a:noFill/>
          <a:ln/>
        </p:spPr>
        <p:txBody>
          <a:bodyPr wrap="square" lIns="0" tIns="0" rIns="0" bIns="0" rtlCol="0" anchor="ctr"/>
          <a:lstStyle/>
          <a:p>
            <a:pPr algn="l" indent="0" marL="0">
              <a:buNone/>
            </a:pPr>
            <a:r>
              <a:rPr lang="en-US" sz="950" b="1" dirty="0">
                <a:solidFill>
                  <a:srgbClr val="1F2933"/>
                </a:solidFill>
                <a:latin typeface="Calibri" pitchFamily="34" charset="0"/>
                <a:ea typeface="Calibri" pitchFamily="34" charset="-122"/>
                <a:cs typeface="Calibri" pitchFamily="34" charset="-120"/>
              </a:rPr>
              <a:t>Thoughts of quitting</a:t>
            </a:r>
            <a:endParaRPr lang="en-US" sz="950" dirty="0"/>
          </a:p>
        </p:txBody>
      </p:sp>
      <p:sp>
        <p:nvSpPr>
          <p:cNvPr id="12" name="Shape 10"/>
          <p:cNvSpPr/>
          <p:nvPr/>
        </p:nvSpPr>
        <p:spPr>
          <a:xfrm>
            <a:off x="2788920" y="1371600"/>
            <a:ext cx="1234440" cy="822960"/>
          </a:xfrm>
          <a:prstGeom prst="chevron">
            <a:avLst/>
          </a:prstGeom>
          <a:solidFill>
            <a:srgbClr val="E4EAEE"/>
          </a:solidFill>
          <a:ln w="12700">
            <a:solidFill>
              <a:srgbClr val="FFFFFF"/>
            </a:solidFill>
            <a:prstDash val="solid"/>
          </a:ln>
        </p:spPr>
      </p:sp>
      <p:sp>
        <p:nvSpPr>
          <p:cNvPr id="13" name="Text 11"/>
          <p:cNvSpPr txBox="1"/>
          <p:nvPr/>
        </p:nvSpPr>
        <p:spPr>
          <a:xfrm>
            <a:off x="2990088" y="1417320"/>
            <a:ext cx="914400" cy="731520"/>
          </a:xfrm>
          <a:prstGeom prst="rect">
            <a:avLst/>
          </a:prstGeom>
          <a:noFill/>
          <a:ln/>
        </p:spPr>
        <p:txBody>
          <a:bodyPr wrap="square" lIns="0" tIns="0" rIns="0" bIns="0" rtlCol="0" anchor="ctr"/>
          <a:lstStyle/>
          <a:p>
            <a:pPr algn="l" indent="0" marL="0">
              <a:buNone/>
            </a:pPr>
            <a:r>
              <a:rPr lang="en-US" sz="950" b="1" dirty="0">
                <a:solidFill>
                  <a:srgbClr val="1F2933"/>
                </a:solidFill>
                <a:latin typeface="Calibri" pitchFamily="34" charset="0"/>
                <a:ea typeface="Calibri" pitchFamily="34" charset="-122"/>
                <a:cs typeface="Calibri" pitchFamily="34" charset="-120"/>
              </a:rPr>
              <a:t>Weigh the cost of a search</a:t>
            </a:r>
            <a:endParaRPr lang="en-US" sz="950" dirty="0"/>
          </a:p>
        </p:txBody>
      </p:sp>
      <p:sp>
        <p:nvSpPr>
          <p:cNvPr id="14" name="Shape 12"/>
          <p:cNvSpPr/>
          <p:nvPr/>
        </p:nvSpPr>
        <p:spPr>
          <a:xfrm>
            <a:off x="3977640" y="1371600"/>
            <a:ext cx="1234440" cy="822960"/>
          </a:xfrm>
          <a:prstGeom prst="chevron">
            <a:avLst/>
          </a:prstGeom>
          <a:solidFill>
            <a:srgbClr val="5C7A8A"/>
          </a:solidFill>
          <a:ln w="12700">
            <a:solidFill>
              <a:srgbClr val="FFFFFF"/>
            </a:solidFill>
            <a:prstDash val="solid"/>
          </a:ln>
        </p:spPr>
      </p:sp>
      <p:sp>
        <p:nvSpPr>
          <p:cNvPr id="15" name="Text 13"/>
          <p:cNvSpPr txBox="1"/>
          <p:nvPr/>
        </p:nvSpPr>
        <p:spPr>
          <a:xfrm>
            <a:off x="4178808" y="1417320"/>
            <a:ext cx="914400" cy="7315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Search</a:t>
            </a:r>
            <a:endParaRPr lang="en-US" sz="950" dirty="0"/>
          </a:p>
        </p:txBody>
      </p:sp>
      <p:sp>
        <p:nvSpPr>
          <p:cNvPr id="16" name="Shape 14"/>
          <p:cNvSpPr/>
          <p:nvPr/>
        </p:nvSpPr>
        <p:spPr>
          <a:xfrm>
            <a:off x="5166360" y="1371600"/>
            <a:ext cx="1234440" cy="822960"/>
          </a:xfrm>
          <a:prstGeom prst="chevron">
            <a:avLst/>
          </a:prstGeom>
          <a:solidFill>
            <a:srgbClr val="5C7A8A"/>
          </a:solidFill>
          <a:ln w="12700">
            <a:solidFill>
              <a:srgbClr val="FFFFFF"/>
            </a:solidFill>
            <a:prstDash val="solid"/>
          </a:ln>
        </p:spPr>
      </p:sp>
      <p:sp>
        <p:nvSpPr>
          <p:cNvPr id="17" name="Text 15"/>
          <p:cNvSpPr txBox="1"/>
          <p:nvPr/>
        </p:nvSpPr>
        <p:spPr>
          <a:xfrm>
            <a:off x="5367528" y="1417320"/>
            <a:ext cx="914400" cy="7315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Compare offers</a:t>
            </a:r>
            <a:endParaRPr lang="en-US" sz="950" dirty="0"/>
          </a:p>
        </p:txBody>
      </p:sp>
      <p:sp>
        <p:nvSpPr>
          <p:cNvPr id="18" name="Shape 16"/>
          <p:cNvSpPr/>
          <p:nvPr/>
        </p:nvSpPr>
        <p:spPr>
          <a:xfrm>
            <a:off x="6355080" y="1371600"/>
            <a:ext cx="1234440" cy="822960"/>
          </a:xfrm>
          <a:prstGeom prst="chevron">
            <a:avLst/>
          </a:prstGeom>
          <a:solidFill>
            <a:srgbClr val="C8553D"/>
          </a:solidFill>
          <a:ln w="12700">
            <a:solidFill>
              <a:srgbClr val="FFFFFF"/>
            </a:solidFill>
            <a:prstDash val="solid"/>
          </a:ln>
        </p:spPr>
      </p:sp>
      <p:sp>
        <p:nvSpPr>
          <p:cNvPr id="19" name="Text 17"/>
          <p:cNvSpPr txBox="1"/>
          <p:nvPr/>
        </p:nvSpPr>
        <p:spPr>
          <a:xfrm>
            <a:off x="6556248" y="1417320"/>
            <a:ext cx="914400" cy="7315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Intention to quit</a:t>
            </a:r>
            <a:endParaRPr lang="en-US" sz="950" dirty="0"/>
          </a:p>
        </p:txBody>
      </p:sp>
      <p:sp>
        <p:nvSpPr>
          <p:cNvPr id="20" name="Shape 18"/>
          <p:cNvSpPr/>
          <p:nvPr/>
        </p:nvSpPr>
        <p:spPr>
          <a:xfrm>
            <a:off x="7543800" y="1371600"/>
            <a:ext cx="1234440" cy="822960"/>
          </a:xfrm>
          <a:prstGeom prst="chevron">
            <a:avLst/>
          </a:prstGeom>
          <a:solidFill>
            <a:srgbClr val="C8553D"/>
          </a:solidFill>
          <a:ln w="12700">
            <a:solidFill>
              <a:srgbClr val="FFFFFF"/>
            </a:solidFill>
            <a:prstDash val="solid"/>
          </a:ln>
        </p:spPr>
      </p:sp>
      <p:sp>
        <p:nvSpPr>
          <p:cNvPr id="21" name="Text 19"/>
          <p:cNvSpPr txBox="1"/>
          <p:nvPr/>
        </p:nvSpPr>
        <p:spPr>
          <a:xfrm>
            <a:off x="7744968" y="1417320"/>
            <a:ext cx="914400" cy="7315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Quit</a:t>
            </a:r>
            <a:endParaRPr lang="en-US" sz="950" dirty="0"/>
          </a:p>
        </p:txBody>
      </p:sp>
      <p:sp>
        <p:nvSpPr>
          <p:cNvPr id="22" name="Shape 20"/>
          <p:cNvSpPr/>
          <p:nvPr/>
        </p:nvSpPr>
        <p:spPr>
          <a:xfrm>
            <a:off x="3977640" y="2377440"/>
            <a:ext cx="4709160" cy="411480"/>
          </a:xfrm>
          <a:prstGeom prst="roundRect">
            <a:avLst>
              <a:gd name="adj" fmla="val 13333"/>
            </a:avLst>
          </a:prstGeom>
          <a:solidFill>
            <a:srgbClr val="F8ECE7"/>
          </a:solidFill>
          <a:ln w="12700">
            <a:solidFill>
              <a:srgbClr val="F8ECE7"/>
            </a:solidFill>
            <a:prstDash val="solid"/>
          </a:ln>
        </p:spPr>
      </p:sp>
      <p:sp>
        <p:nvSpPr>
          <p:cNvPr id="23" name="Text 21"/>
          <p:cNvSpPr txBox="1"/>
          <p:nvPr/>
        </p:nvSpPr>
        <p:spPr>
          <a:xfrm>
            <a:off x="4114800" y="2395728"/>
            <a:ext cx="4572000" cy="365760"/>
          </a:xfrm>
          <a:prstGeom prst="rect">
            <a:avLst/>
          </a:prstGeom>
          <a:noFill/>
          <a:ln/>
        </p:spPr>
        <p:txBody>
          <a:bodyPr wrap="square" lIns="0" tIns="0" rIns="0" bIns="0" rtlCol="0" anchor="ctr"/>
          <a:lstStyle/>
          <a:p>
            <a:pPr algn="l" indent="0" marL="0">
              <a:buNone/>
            </a:pPr>
            <a:r>
              <a:rPr lang="en-US" sz="1150" b="1" dirty="0">
                <a:solidFill>
                  <a:srgbClr val="C8553D"/>
                </a:solidFill>
                <a:latin typeface="Calibri" pitchFamily="34" charset="0"/>
                <a:ea typeface="Calibri" pitchFamily="34" charset="-122"/>
                <a:cs typeface="Calibri" pitchFamily="34" charset="-120"/>
              </a:rPr>
              <a:t>What your HR data actually sees: the right-hand end</a:t>
            </a:r>
            <a:endParaRPr lang="en-US" sz="1150" dirty="0"/>
          </a:p>
        </p:txBody>
      </p:sp>
      <p:sp>
        <p:nvSpPr>
          <p:cNvPr id="24" name="Text 22"/>
          <p:cNvSpPr txBox="1"/>
          <p:nvPr/>
        </p:nvSpPr>
        <p:spPr>
          <a:xfrm>
            <a:off x="457200" y="3017520"/>
            <a:ext cx="8229600" cy="1554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Sick leave rising, overtime falling, a LinkedIn profile refreshed, a rating slipping: traces of the late links, not causes.</a:t>
            </a:r>
            <a:endParaRPr lang="en-US" sz="1300" dirty="0"/>
          </a:p>
          <a:p>
            <a:pPr marL="177800" indent="-1778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So turnover intention is the strongest single predictor — it is the second-last link.</a:t>
            </a:r>
            <a:endParaRPr lang="en-US" sz="1300" dirty="0"/>
          </a:p>
          <a:p>
            <a:pPr marL="177800" indent="-1778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A model usually answers whether, not when. The chain has no clock on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28–42 min · the limit</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IMPORTED THEORY · Lee &amp; Mitchell (1994), unfolding model  ·  TEXTBOOK example Ch.5 p.106</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12</a:t>
            </a:r>
            <a:endParaRPr lang="en-US" sz="900" dirty="0"/>
          </a:p>
        </p:txBody>
      </p:sp>
      <p:sp>
        <p:nvSpPr>
          <p:cNvPr id="7" name="Text 5"/>
          <p:cNvSpPr txBox="1"/>
          <p:nvPr/>
        </p:nvSpPr>
        <p:spPr>
          <a:xfrm>
            <a:off x="1005840" y="347472"/>
            <a:ext cx="64008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Some people never walk the chain</a:t>
            </a:r>
            <a:endParaRPr lang="en-US" sz="2400" dirty="0"/>
          </a:p>
        </p:txBody>
      </p:sp>
      <p:sp>
        <p:nvSpPr>
          <p:cNvPr id="8" name="Shape 6"/>
          <p:cNvSpPr/>
          <p:nvPr/>
        </p:nvSpPr>
        <p:spPr>
          <a:xfrm>
            <a:off x="457200" y="1097280"/>
            <a:ext cx="2651760" cy="2011680"/>
          </a:xfrm>
          <a:prstGeom prst="roundRect">
            <a:avLst>
              <a:gd name="adj" fmla="val 3636"/>
            </a:avLst>
          </a:prstGeom>
          <a:solidFill>
            <a:srgbClr val="F8ECE7"/>
          </a:solidFill>
          <a:ln w="12700">
            <a:solidFill>
              <a:srgbClr val="F8ECE7"/>
            </a:solidFill>
            <a:prstDash val="solid"/>
          </a:ln>
        </p:spPr>
      </p:sp>
      <p:sp>
        <p:nvSpPr>
          <p:cNvPr id="9" name="Text 7"/>
          <p:cNvSpPr txBox="1"/>
          <p:nvPr/>
        </p:nvSpPr>
        <p:spPr>
          <a:xfrm>
            <a:off x="594360" y="1188720"/>
            <a:ext cx="23774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A shock</a:t>
            </a:r>
            <a:endParaRPr lang="en-US" sz="1300" dirty="0"/>
          </a:p>
        </p:txBody>
      </p:sp>
      <p:sp>
        <p:nvSpPr>
          <p:cNvPr id="10" name="Text 8"/>
          <p:cNvSpPr txBox="1"/>
          <p:nvPr/>
        </p:nvSpPr>
        <p:spPr>
          <a:xfrm>
            <a:off x="594360" y="1463294"/>
            <a:ext cx="2377440" cy="155422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spouse is relocated. The manager is replaced. An offer arrives unasked. In the textbook’s India case: the future mother-in-law arrives and says it is time to marry.</a:t>
            </a:r>
            <a:endParaRPr lang="en-US" sz="1200" dirty="0"/>
          </a:p>
        </p:txBody>
      </p:sp>
      <p:sp>
        <p:nvSpPr>
          <p:cNvPr id="11" name="Shape 9"/>
          <p:cNvSpPr/>
          <p:nvPr/>
        </p:nvSpPr>
        <p:spPr>
          <a:xfrm>
            <a:off x="3246120" y="1097280"/>
            <a:ext cx="2651760" cy="2011680"/>
          </a:xfrm>
          <a:prstGeom prst="roundRect">
            <a:avLst>
              <a:gd name="adj" fmla="val 3636"/>
            </a:avLst>
          </a:prstGeom>
          <a:solidFill>
            <a:srgbClr val="F3F6F8"/>
          </a:solidFill>
          <a:ln w="12700">
            <a:solidFill>
              <a:srgbClr val="F3F6F8"/>
            </a:solidFill>
            <a:prstDash val="solid"/>
          </a:ln>
        </p:spPr>
      </p:sp>
      <p:sp>
        <p:nvSpPr>
          <p:cNvPr id="12" name="Text 10"/>
          <p:cNvSpPr txBox="1"/>
          <p:nvPr/>
        </p:nvSpPr>
        <p:spPr>
          <a:xfrm>
            <a:off x="3383280" y="1188720"/>
            <a:ext cx="23774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No dissatisfaction stage</a:t>
            </a:r>
            <a:endParaRPr lang="en-US" sz="1300" dirty="0"/>
          </a:p>
        </p:txBody>
      </p:sp>
      <p:sp>
        <p:nvSpPr>
          <p:cNvPr id="13" name="Text 11"/>
          <p:cNvSpPr txBox="1"/>
          <p:nvPr/>
        </p:nvSpPr>
        <p:spPr>
          <a:xfrm>
            <a:off x="3383280" y="1463294"/>
            <a:ext cx="2377440" cy="155422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person was fine on Monday. There was nothing to measure, so there is nothing in the data.</a:t>
            </a:r>
            <a:endParaRPr lang="en-US" sz="1200" dirty="0"/>
          </a:p>
        </p:txBody>
      </p:sp>
      <p:sp>
        <p:nvSpPr>
          <p:cNvPr id="14" name="Shape 12"/>
          <p:cNvSpPr/>
          <p:nvPr/>
        </p:nvSpPr>
        <p:spPr>
          <a:xfrm>
            <a:off x="6035040" y="1097280"/>
            <a:ext cx="2651760" cy="2011680"/>
          </a:xfrm>
          <a:prstGeom prst="roundRect">
            <a:avLst>
              <a:gd name="adj" fmla="val 3636"/>
            </a:avLst>
          </a:prstGeom>
          <a:solidFill>
            <a:srgbClr val="F3F6F8"/>
          </a:solidFill>
          <a:ln w="12700">
            <a:solidFill>
              <a:srgbClr val="F3F6F8"/>
            </a:solidFill>
            <a:prstDash val="solid"/>
          </a:ln>
        </p:spPr>
      </p:sp>
      <p:sp>
        <p:nvSpPr>
          <p:cNvPr id="15" name="Text 13"/>
          <p:cNvSpPr txBox="1"/>
          <p:nvPr/>
        </p:nvSpPr>
        <p:spPr>
          <a:xfrm>
            <a:off x="6172200" y="1188720"/>
            <a:ext cx="23774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A ceiling</a:t>
            </a:r>
            <a:endParaRPr lang="en-US" sz="1300" dirty="0"/>
          </a:p>
        </p:txBody>
      </p:sp>
      <p:sp>
        <p:nvSpPr>
          <p:cNvPr id="16" name="Text 14"/>
          <p:cNvSpPr txBox="1"/>
          <p:nvPr/>
        </p:nvSpPr>
        <p:spPr>
          <a:xfrm>
            <a:off x="6172200" y="1463294"/>
            <a:ext cx="2377440" cy="155422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Every attrition model has one. It is not a tuning problem; no algorithm recovers a signal that was never recorded.</a:t>
            </a:r>
            <a:endParaRPr lang="en-US" sz="1200" dirty="0"/>
          </a:p>
        </p:txBody>
      </p:sp>
      <p:sp>
        <p:nvSpPr>
          <p:cNvPr id="17" name="Shape 15"/>
          <p:cNvSpPr/>
          <p:nvPr/>
        </p:nvSpPr>
        <p:spPr>
          <a:xfrm>
            <a:off x="457200" y="3337560"/>
            <a:ext cx="8229600" cy="1143000"/>
          </a:xfrm>
          <a:prstGeom prst="roundRect">
            <a:avLst>
              <a:gd name="adj" fmla="val 6400"/>
            </a:avLst>
          </a:prstGeom>
          <a:solidFill>
            <a:srgbClr val="F3F6F8"/>
          </a:solidFill>
          <a:ln w="12700">
            <a:solidFill>
              <a:srgbClr val="F3F6F8"/>
            </a:solidFill>
            <a:prstDash val="solid"/>
          </a:ln>
        </p:spPr>
      </p:sp>
      <p:sp>
        <p:nvSpPr>
          <p:cNvPr id="18" name="Text 16"/>
          <p:cNvSpPr txBox="1"/>
          <p:nvPr/>
        </p:nvSpPr>
        <p:spPr>
          <a:xfrm>
            <a:off x="640080" y="3429000"/>
            <a:ext cx="7863840" cy="960120"/>
          </a:xfrm>
          <a:prstGeom prst="rect">
            <a:avLst/>
          </a:prstGeom>
          <a:noFill/>
          <a:ln/>
        </p:spPr>
        <p:txBody>
          <a:bodyPr wrap="square" lIns="0" tIns="0" rIns="0" bIns="0" rtlCol="0" anchor="ctr"/>
          <a:lstStyle/>
          <a:p>
            <a:pPr algn="l" indent="0" marL="0">
              <a:buNone/>
            </a:pPr>
            <a:r>
              <a:rPr lang="en-US" sz="1400" i="1" dirty="0">
                <a:solidFill>
                  <a:srgbClr val="1F2933"/>
                </a:solidFill>
                <a:latin typeface="Cambria" pitchFamily="34" charset="0"/>
                <a:ea typeface="Cambria" pitchFamily="34" charset="-122"/>
                <a:cs typeface="Cambria" pitchFamily="34" charset="-120"/>
              </a:rPr>
              <a:t>So the theory explains: why intention predicts, why ease matters as much as wanting, why whether is easier than when. It does not explain: the leaver who was happy last week — and your model will not either.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42–50 min · check A</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TEXTBOOK · Ch.5 p.102–112 (semiconductor company in India)  ·  figures as printed; the book calls its own analysis “flawed but successful”</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13</a:t>
            </a:r>
            <a:endParaRPr lang="en-US" sz="900" dirty="0"/>
          </a:p>
        </p:txBody>
      </p:sp>
      <p:sp>
        <p:nvSpPr>
          <p:cNvPr id="7" name="Text 5"/>
          <p:cNvSpPr txBox="1"/>
          <p:nvPr/>
        </p:nvSpPr>
        <p:spPr>
          <a:xfrm>
            <a:off x="1005840" y="347472"/>
            <a:ext cx="64008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Check A — the textbook’s India case</a:t>
            </a:r>
            <a:endParaRPr lang="en-US" sz="2400" dirty="0"/>
          </a:p>
        </p:txBody>
      </p:sp>
      <p:sp>
        <p:nvSpPr>
          <p:cNvPr id="8" name="Shape 6"/>
          <p:cNvSpPr/>
          <p:nvPr/>
        </p:nvSpPr>
        <p:spPr>
          <a:xfrm>
            <a:off x="457200" y="1051560"/>
            <a:ext cx="2651760" cy="1874520"/>
          </a:xfrm>
          <a:prstGeom prst="roundRect">
            <a:avLst>
              <a:gd name="adj" fmla="val 3902"/>
            </a:avLst>
          </a:prstGeom>
          <a:solidFill>
            <a:srgbClr val="F3F6F8"/>
          </a:solidFill>
          <a:ln w="12700">
            <a:solidFill>
              <a:srgbClr val="F3F6F8"/>
            </a:solidFill>
            <a:prstDash val="solid"/>
          </a:ln>
        </p:spPr>
      </p:sp>
      <p:sp>
        <p:nvSpPr>
          <p:cNvPr id="9" name="Text 7"/>
          <p:cNvSpPr txBox="1"/>
          <p:nvPr/>
        </p:nvSpPr>
        <p:spPr>
          <a:xfrm>
            <a:off x="594360" y="1143000"/>
            <a:ext cx="237744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External drivers</a:t>
            </a:r>
            <a:endParaRPr lang="en-US" sz="1200" dirty="0"/>
          </a:p>
        </p:txBody>
      </p:sp>
      <p:sp>
        <p:nvSpPr>
          <p:cNvPr id="10" name="Text 8"/>
          <p:cNvSpPr txBox="1"/>
          <p:nvPr/>
        </p:nvSpPr>
        <p:spPr>
          <a:xfrm>
            <a:off x="594360" y="1402080"/>
            <a:ext cx="2377440" cy="14325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Pay levels · competition · overseas opportunities</a:t>
            </a:r>
            <a:endParaRPr lang="en-US" sz="1200" dirty="0"/>
          </a:p>
        </p:txBody>
      </p:sp>
      <p:sp>
        <p:nvSpPr>
          <p:cNvPr id="11" name="Shape 9"/>
          <p:cNvSpPr/>
          <p:nvPr/>
        </p:nvSpPr>
        <p:spPr>
          <a:xfrm>
            <a:off x="3246120" y="1051560"/>
            <a:ext cx="2651760" cy="1874520"/>
          </a:xfrm>
          <a:prstGeom prst="roundRect">
            <a:avLst>
              <a:gd name="adj" fmla="val 3902"/>
            </a:avLst>
          </a:prstGeom>
          <a:solidFill>
            <a:srgbClr val="F3F6F8"/>
          </a:solidFill>
          <a:ln w="12700">
            <a:solidFill>
              <a:srgbClr val="F3F6F8"/>
            </a:solidFill>
            <a:prstDash val="solid"/>
          </a:ln>
        </p:spPr>
      </p:sp>
      <p:sp>
        <p:nvSpPr>
          <p:cNvPr id="12" name="Text 10"/>
          <p:cNvSpPr txBox="1"/>
          <p:nvPr/>
        </p:nvSpPr>
        <p:spPr>
          <a:xfrm>
            <a:off x="3383280" y="1143000"/>
            <a:ext cx="237744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Organisational drivers</a:t>
            </a:r>
            <a:endParaRPr lang="en-US" sz="1200" dirty="0"/>
          </a:p>
        </p:txBody>
      </p:sp>
      <p:sp>
        <p:nvSpPr>
          <p:cNvPr id="13" name="Text 11"/>
          <p:cNvSpPr txBox="1"/>
          <p:nvPr/>
        </p:nvSpPr>
        <p:spPr>
          <a:xfrm>
            <a:off x="3383280" y="1402080"/>
            <a:ext cx="2377440" cy="14325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Job profile · involuntary exits · performance ratings · dissatisfaction with the manager · promotion opportunities</a:t>
            </a:r>
            <a:endParaRPr lang="en-US" sz="1200" dirty="0"/>
          </a:p>
        </p:txBody>
      </p:sp>
      <p:sp>
        <p:nvSpPr>
          <p:cNvPr id="14" name="Shape 12"/>
          <p:cNvSpPr/>
          <p:nvPr/>
        </p:nvSpPr>
        <p:spPr>
          <a:xfrm>
            <a:off x="6035040" y="1051560"/>
            <a:ext cx="2651760" cy="1874520"/>
          </a:xfrm>
          <a:prstGeom prst="roundRect">
            <a:avLst>
              <a:gd name="adj" fmla="val 3902"/>
            </a:avLst>
          </a:prstGeom>
          <a:solidFill>
            <a:srgbClr val="F3F6F8"/>
          </a:solidFill>
          <a:ln w="12700">
            <a:solidFill>
              <a:srgbClr val="F3F6F8"/>
            </a:solidFill>
            <a:prstDash val="solid"/>
          </a:ln>
        </p:spPr>
      </p:sp>
      <p:sp>
        <p:nvSpPr>
          <p:cNvPr id="15" name="Text 13"/>
          <p:cNvSpPr txBox="1"/>
          <p:nvPr/>
        </p:nvSpPr>
        <p:spPr>
          <a:xfrm>
            <a:off x="6172200" y="1143000"/>
            <a:ext cx="2377440" cy="222504"/>
          </a:xfrm>
          <a:prstGeom prst="rect">
            <a:avLst/>
          </a:prstGeom>
          <a:noFill/>
          <a:ln/>
        </p:spPr>
        <p:txBody>
          <a:bodyPr wrap="square" lIns="0" tIns="0" rIns="0" bIns="0" rtlCol="0" anchor="t"/>
          <a:lstStyle/>
          <a:p>
            <a:pPr indent="0" marL="0">
              <a:buNone/>
            </a:pPr>
            <a:r>
              <a:rPr lang="en-US" sz="1200" b="1" dirty="0">
                <a:solidFill>
                  <a:srgbClr val="1F2933"/>
                </a:solidFill>
                <a:latin typeface="Cambria" pitchFamily="34" charset="0"/>
                <a:ea typeface="Cambria" pitchFamily="34" charset="-122"/>
                <a:cs typeface="Cambria" pitchFamily="34" charset="-120"/>
              </a:rPr>
              <a:t>Individual drivers</a:t>
            </a:r>
            <a:endParaRPr lang="en-US" sz="1200" dirty="0"/>
          </a:p>
        </p:txBody>
      </p:sp>
      <p:sp>
        <p:nvSpPr>
          <p:cNvPr id="16" name="Text 14"/>
          <p:cNvSpPr txBox="1"/>
          <p:nvPr/>
        </p:nvSpPr>
        <p:spPr>
          <a:xfrm>
            <a:off x="6172200" y="1402080"/>
            <a:ext cx="2377440" cy="14325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Further study · relocation · low performance · which institution · tenure · gender</a:t>
            </a:r>
            <a:endParaRPr lang="en-US" sz="1200" dirty="0"/>
          </a:p>
        </p:txBody>
      </p:sp>
      <p:sp>
        <p:nvSpPr>
          <p:cNvPr id="17" name="Text 15"/>
          <p:cNvSpPr txBox="1"/>
          <p:nvPr/>
        </p:nvSpPr>
        <p:spPr>
          <a:xfrm>
            <a:off x="457200" y="3063240"/>
            <a:ext cx="2651760" cy="914400"/>
          </a:xfrm>
          <a:prstGeom prst="rect">
            <a:avLst/>
          </a:prstGeom>
          <a:noFill/>
          <a:ln/>
        </p:spPr>
        <p:txBody>
          <a:bodyPr wrap="square" lIns="0" tIns="0" rIns="0" bIns="0" rtlCol="0" anchor="ctr"/>
          <a:lstStyle/>
          <a:p>
            <a:pPr algn="ctr" indent="0" marL="0">
              <a:buNone/>
            </a:pPr>
            <a:r>
              <a:rPr lang="en-US" sz="3400" b="1" dirty="0">
                <a:solidFill>
                  <a:srgbClr val="5C7A8A"/>
                </a:solidFill>
                <a:latin typeface="Cambria" pitchFamily="34" charset="0"/>
                <a:ea typeface="Cambria" pitchFamily="34" charset="-122"/>
                <a:cs typeface="Cambria" pitchFamily="34" charset="-120"/>
              </a:rPr>
              <a:t>&lt;10%</a:t>
            </a:r>
            <a:endParaRPr lang="en-US" sz="3400" dirty="0"/>
          </a:p>
        </p:txBody>
      </p:sp>
      <p:sp>
        <p:nvSpPr>
          <p:cNvPr id="18" name="Text 16"/>
          <p:cNvSpPr txBox="1"/>
          <p:nvPr/>
        </p:nvSpPr>
        <p:spPr>
          <a:xfrm>
            <a:off x="457200" y="3995928"/>
            <a:ext cx="2651760" cy="68580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of leavers left for pay — management had said pay was the whole story</a:t>
            </a:r>
            <a:endParaRPr lang="en-US" sz="1200" dirty="0"/>
          </a:p>
        </p:txBody>
      </p:sp>
      <p:sp>
        <p:nvSpPr>
          <p:cNvPr id="19" name="Text 17"/>
          <p:cNvSpPr txBox="1"/>
          <p:nvPr/>
        </p:nvSpPr>
        <p:spPr>
          <a:xfrm>
            <a:off x="3246120" y="3063240"/>
            <a:ext cx="2651760" cy="914400"/>
          </a:xfrm>
          <a:prstGeom prst="rect">
            <a:avLst/>
          </a:prstGeom>
          <a:noFill/>
          <a:ln/>
        </p:spPr>
        <p:txBody>
          <a:bodyPr wrap="square" lIns="0" tIns="0" rIns="0" bIns="0" rtlCol="0" anchor="ctr"/>
          <a:lstStyle/>
          <a:p>
            <a:pPr algn="ctr" indent="0" marL="0">
              <a:buNone/>
            </a:pPr>
            <a:r>
              <a:rPr lang="en-US" sz="3400" b="1" dirty="0">
                <a:solidFill>
                  <a:srgbClr val="C8553D"/>
                </a:solidFill>
                <a:latin typeface="Cambria" pitchFamily="34" charset="0"/>
                <a:ea typeface="Cambria" pitchFamily="34" charset="-122"/>
                <a:cs typeface="Cambria" pitchFamily="34" charset="-120"/>
              </a:rPr>
              <a:t>15</a:t>
            </a:r>
            <a:endParaRPr lang="en-US" sz="3400" dirty="0"/>
          </a:p>
        </p:txBody>
      </p:sp>
      <p:sp>
        <p:nvSpPr>
          <p:cNvPr id="20" name="Text 18"/>
          <p:cNvSpPr txBox="1"/>
          <p:nvPr/>
        </p:nvSpPr>
        <p:spPr>
          <a:xfrm>
            <a:off x="3246120" y="3995928"/>
            <a:ext cx="2651760" cy="68580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managers with the highest attrition — rated 1 (top) by their own bosses</a:t>
            </a:r>
            <a:endParaRPr lang="en-US" sz="1200" dirty="0"/>
          </a:p>
        </p:txBody>
      </p:sp>
      <p:sp>
        <p:nvSpPr>
          <p:cNvPr id="21" name="Text 19"/>
          <p:cNvSpPr txBox="1"/>
          <p:nvPr/>
        </p:nvSpPr>
        <p:spPr>
          <a:xfrm>
            <a:off x="6035040" y="3063240"/>
            <a:ext cx="2651760" cy="914400"/>
          </a:xfrm>
          <a:prstGeom prst="rect">
            <a:avLst/>
          </a:prstGeom>
          <a:noFill/>
          <a:ln/>
        </p:spPr>
        <p:txBody>
          <a:bodyPr wrap="square" lIns="0" tIns="0" rIns="0" bIns="0" rtlCol="0" anchor="ctr"/>
          <a:lstStyle/>
          <a:p>
            <a:pPr algn="ctr" indent="0" marL="0">
              <a:buNone/>
            </a:pPr>
            <a:r>
              <a:rPr lang="en-US" sz="3400" b="1" dirty="0">
                <a:solidFill>
                  <a:srgbClr val="3C7A5A"/>
                </a:solidFill>
                <a:latin typeface="Cambria" pitchFamily="34" charset="0"/>
                <a:ea typeface="Cambria" pitchFamily="34" charset="-122"/>
                <a:cs typeface="Cambria" pitchFamily="34" charset="-120"/>
              </a:rPr>
              <a:t>−30%</a:t>
            </a:r>
            <a:endParaRPr lang="en-US" sz="3400" dirty="0"/>
          </a:p>
        </p:txBody>
      </p:sp>
      <p:sp>
        <p:nvSpPr>
          <p:cNvPr id="22" name="Text 20"/>
          <p:cNvSpPr txBox="1"/>
          <p:nvPr/>
        </p:nvSpPr>
        <p:spPr>
          <a:xfrm>
            <a:off x="6035040" y="3995928"/>
            <a:ext cx="2651760" cy="68580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turnover after the policy changes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42–50 min · check A</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Hong Kong anchor  ·  legal wording (Employment Ordinance notice; GEP/IANG conditions) must be checked against the current text before class</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14</a:t>
            </a:r>
            <a:endParaRPr lang="en-US" sz="900" dirty="0"/>
          </a:p>
        </p:txBody>
      </p:sp>
      <p:sp>
        <p:nvSpPr>
          <p:cNvPr id="7" name="Text 5"/>
          <p:cNvSpPr txBox="1"/>
          <p:nvPr/>
        </p:nvSpPr>
        <p:spPr>
          <a:xfrm>
            <a:off x="1005840" y="347472"/>
            <a:ext cx="64008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Same firm, same desk, opposite ease</a:t>
            </a:r>
            <a:endParaRPr lang="en-US" sz="2400" dirty="0"/>
          </a:p>
        </p:txBody>
      </p:sp>
      <p:sp>
        <p:nvSpPr>
          <p:cNvPr id="8" name="Shape 6"/>
          <p:cNvSpPr/>
          <p:nvPr/>
        </p:nvSpPr>
        <p:spPr>
          <a:xfrm>
            <a:off x="457200" y="1097280"/>
            <a:ext cx="4023360" cy="2286000"/>
          </a:xfrm>
          <a:prstGeom prst="roundRect">
            <a:avLst>
              <a:gd name="adj" fmla="val 3200"/>
            </a:avLst>
          </a:prstGeom>
          <a:solidFill>
            <a:srgbClr val="F8ECE7"/>
          </a:solidFill>
          <a:ln w="12700">
            <a:solidFill>
              <a:srgbClr val="F8ECE7"/>
            </a:solidFill>
            <a:prstDash val="solid"/>
          </a:ln>
        </p:spPr>
      </p:sp>
      <p:sp>
        <p:nvSpPr>
          <p:cNvPr id="9" name="Text 7"/>
          <p:cNvSpPr txBox="1"/>
          <p:nvPr/>
        </p:nvSpPr>
        <p:spPr>
          <a:xfrm>
            <a:off x="594360" y="1188720"/>
            <a:ext cx="3749040" cy="253492"/>
          </a:xfrm>
          <a:prstGeom prst="rect">
            <a:avLst/>
          </a:prstGeom>
          <a:noFill/>
          <a:ln/>
        </p:spPr>
        <p:txBody>
          <a:bodyPr wrap="square" lIns="0" tIns="0" rIns="0" bIns="0" rtlCol="0" anchor="t"/>
          <a:lstStyle/>
          <a:p>
            <a:pPr indent="0" marL="0">
              <a:buNone/>
            </a:pPr>
            <a:r>
              <a:rPr lang="en-US" sz="1400" b="1" dirty="0">
                <a:solidFill>
                  <a:srgbClr val="1F2933"/>
                </a:solidFill>
                <a:latin typeface="Cambria" pitchFamily="34" charset="0"/>
                <a:ea typeface="Cambria" pitchFamily="34" charset="-122"/>
                <a:cs typeface="Cambria" pitchFamily="34" charset="-120"/>
              </a:rPr>
              <a:t>Local hire</a:t>
            </a:r>
            <a:endParaRPr lang="en-US" sz="1400" dirty="0"/>
          </a:p>
        </p:txBody>
      </p:sp>
      <p:sp>
        <p:nvSpPr>
          <p:cNvPr id="10" name="Text 8"/>
          <p:cNvSpPr txBox="1"/>
          <p:nvPr/>
        </p:nvSpPr>
        <p:spPr>
          <a:xfrm>
            <a:off x="594360" y="1478788"/>
            <a:ext cx="3749040" cy="18130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Notice period commonly one month (Employment Ordinance, Cap. 57). Leaving is cheap and fast. Perceived ease of movement is structurally high. The chain can run in weeks.</a:t>
            </a:r>
            <a:endParaRPr lang="en-US" sz="1300" dirty="0"/>
          </a:p>
        </p:txBody>
      </p:sp>
      <p:sp>
        <p:nvSpPr>
          <p:cNvPr id="11" name="Shape 9"/>
          <p:cNvSpPr/>
          <p:nvPr/>
        </p:nvSpPr>
        <p:spPr>
          <a:xfrm>
            <a:off x="4663440" y="1097280"/>
            <a:ext cx="4023360" cy="2286000"/>
          </a:xfrm>
          <a:prstGeom prst="roundRect">
            <a:avLst>
              <a:gd name="adj" fmla="val 3200"/>
            </a:avLst>
          </a:prstGeom>
          <a:solidFill>
            <a:srgbClr val="F3F6F8"/>
          </a:solidFill>
          <a:ln w="12700">
            <a:solidFill>
              <a:srgbClr val="F3F6F8"/>
            </a:solidFill>
            <a:prstDash val="solid"/>
          </a:ln>
        </p:spPr>
      </p:sp>
      <p:sp>
        <p:nvSpPr>
          <p:cNvPr id="12" name="Text 10"/>
          <p:cNvSpPr txBox="1"/>
          <p:nvPr/>
        </p:nvSpPr>
        <p:spPr>
          <a:xfrm>
            <a:off x="4800600" y="1188720"/>
            <a:ext cx="3749040" cy="470408"/>
          </a:xfrm>
          <a:prstGeom prst="rect">
            <a:avLst/>
          </a:prstGeom>
          <a:noFill/>
          <a:ln/>
        </p:spPr>
        <p:txBody>
          <a:bodyPr wrap="square" lIns="0" tIns="0" rIns="0" bIns="0" rtlCol="0" anchor="t"/>
          <a:lstStyle/>
          <a:p>
            <a:pPr indent="0" marL="0">
              <a:buNone/>
            </a:pPr>
            <a:r>
              <a:rPr lang="en-US" sz="1400" b="1" dirty="0">
                <a:solidFill>
                  <a:srgbClr val="1F2933"/>
                </a:solidFill>
                <a:latin typeface="Cambria" pitchFamily="34" charset="0"/>
                <a:ea typeface="Cambria" pitchFamily="34" charset="-122"/>
                <a:cs typeface="Cambria" pitchFamily="34" charset="-120"/>
              </a:rPr>
              <a:t>Non-local hire on an employment-tied visa</a:t>
            </a:r>
            <a:endParaRPr lang="en-US" sz="1400" dirty="0"/>
          </a:p>
        </p:txBody>
      </p:sp>
      <p:sp>
        <p:nvSpPr>
          <p:cNvPr id="13" name="Text 11"/>
          <p:cNvSpPr txBox="1"/>
          <p:nvPr/>
        </p:nvSpPr>
        <p:spPr>
          <a:xfrm>
            <a:off x="4800600" y="1695704"/>
            <a:ext cx="3749040" cy="159613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GEP is employer-sponsored; IANG gives a job-search window and then attaches to employment. For the same person, ease of movement is pushed down. Wants to go, cannot go: the “trapped” box.</a:t>
            </a:r>
            <a:endParaRPr lang="en-US" sz="1300" dirty="0"/>
          </a:p>
        </p:txBody>
      </p:sp>
      <p:sp>
        <p:nvSpPr>
          <p:cNvPr id="14" name="Shape 12"/>
          <p:cNvSpPr/>
          <p:nvPr/>
        </p:nvSpPr>
        <p:spPr>
          <a:xfrm>
            <a:off x="457200" y="3566160"/>
            <a:ext cx="8229600" cy="914400"/>
          </a:xfrm>
          <a:prstGeom prst="roundRect">
            <a:avLst>
              <a:gd name="adj" fmla="val 8000"/>
            </a:avLst>
          </a:prstGeom>
          <a:solidFill>
            <a:srgbClr val="F3F6F8"/>
          </a:solidFill>
          <a:ln w="12700">
            <a:solidFill>
              <a:srgbClr val="F3F6F8"/>
            </a:solidFill>
            <a:prstDash val="solid"/>
          </a:ln>
        </p:spPr>
      </p:sp>
      <p:sp>
        <p:nvSpPr>
          <p:cNvPr id="15" name="Text 13"/>
          <p:cNvSpPr txBox="1"/>
          <p:nvPr/>
        </p:nvSpPr>
        <p:spPr>
          <a:xfrm>
            <a:off x="640080" y="3657600"/>
            <a:ext cx="7863840" cy="731520"/>
          </a:xfrm>
          <a:prstGeom prst="rect">
            <a:avLst/>
          </a:prstGeom>
          <a:noFill/>
          <a:ln/>
        </p:spPr>
        <p:txBody>
          <a:bodyPr wrap="square" lIns="0" tIns="0" rIns="0" bIns="0" rtlCol="0" anchor="ctr"/>
          <a:lstStyle/>
          <a:p>
            <a:pPr algn="l" indent="0" marL="0">
              <a:buNone/>
            </a:pPr>
            <a:r>
              <a:rPr lang="en-US" sz="1400" i="1" dirty="0">
                <a:solidFill>
                  <a:srgbClr val="1F2933"/>
                </a:solidFill>
                <a:latin typeface="Cambria" pitchFamily="34" charset="0"/>
                <a:ea typeface="Cambria" pitchFamily="34" charset="-122"/>
                <a:cs typeface="Cambria" pitchFamily="34" charset="-120"/>
              </a:rPr>
              <a:t>The model sees “tenure” and “nationality”. It does not see this layer. So — does the theory hold in Hong Kong? Argue it in one sentence.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E4EAEE"/>
                </a:solidFill>
                <a:latin typeface="Calibri" pitchFamily="34" charset="0"/>
                <a:ea typeface="Calibri" pitchFamily="34" charset="-122"/>
                <a:cs typeface="Calibri" pitchFamily="34" charset="-120"/>
              </a:rPr>
              <a:t>50–60 min</a:t>
            </a:r>
            <a:endParaRPr lang="en-US" sz="1000" dirty="0"/>
          </a:p>
        </p:txBody>
      </p:sp>
      <p:sp>
        <p:nvSpPr>
          <p:cNvPr id="3" name="Text 1"/>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E4EAEE"/>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548640" y="1463040"/>
            <a:ext cx="804672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Break</a:t>
            </a:r>
            <a:endParaRPr lang="en-US" sz="4400" dirty="0"/>
          </a:p>
        </p:txBody>
      </p:sp>
      <p:sp>
        <p:nvSpPr>
          <p:cNvPr id="5" name="Text 3"/>
          <p:cNvSpPr txBox="1"/>
          <p:nvPr/>
        </p:nvSpPr>
        <p:spPr>
          <a:xfrm>
            <a:off x="548640" y="2468880"/>
            <a:ext cx="8046720" cy="548640"/>
          </a:xfrm>
          <a:prstGeom prst="rect">
            <a:avLst/>
          </a:prstGeom>
          <a:noFill/>
          <a:ln/>
        </p:spPr>
        <p:txBody>
          <a:bodyPr wrap="square" lIns="0" tIns="0" rIns="0" bIns="0" rtlCol="0" anchor="t"/>
          <a:lstStyle/>
          <a:p>
            <a:pPr algn="l" indent="0" marL="0">
              <a:buNone/>
            </a:pPr>
            <a:r>
              <a:rPr lang="en-US" sz="2000" dirty="0">
                <a:solidFill>
                  <a:srgbClr val="E4EAEE"/>
                </a:solidFill>
                <a:latin typeface="Calibri" pitchFamily="34" charset="0"/>
                <a:ea typeface="Calibri" pitchFamily="34" charset="-122"/>
                <a:cs typeface="Calibri" pitchFamily="34" charset="-120"/>
              </a:rPr>
              <a:t>Back at  ____ : ____   (write it on the whiteboard)</a:t>
            </a:r>
            <a:endParaRPr lang="en-US" sz="2000" dirty="0"/>
          </a:p>
        </p:txBody>
      </p:sp>
      <p:sp>
        <p:nvSpPr>
          <p:cNvPr id="6" name="Text 4"/>
          <p:cNvSpPr txBox="1"/>
          <p:nvPr/>
        </p:nvSpPr>
        <p:spPr>
          <a:xfrm>
            <a:off x="548640" y="3200400"/>
            <a:ext cx="8046720" cy="457200"/>
          </a:xfrm>
          <a:prstGeom prst="rect">
            <a:avLst/>
          </a:prstGeom>
          <a:noFill/>
          <a:ln/>
        </p:spPr>
        <p:txBody>
          <a:bodyPr wrap="square" lIns="0" tIns="0" rIns="0" bIns="0" rtlCol="0" anchor="t"/>
          <a:lstStyle/>
          <a:p>
            <a:pPr algn="l" indent="0" marL="0">
              <a:buNone/>
            </a:pPr>
            <a:r>
              <a:rPr lang="en-US" sz="1400" i="1" dirty="0">
                <a:solidFill>
                  <a:srgbClr val="E4EAEE"/>
                </a:solidFill>
                <a:latin typeface="Calibri" pitchFamily="34" charset="0"/>
                <a:ea typeface="Calibri" pitchFamily="34" charset="-122"/>
                <a:cs typeface="Calibri" pitchFamily="34" charset="-120"/>
              </a:rPr>
              <a:t>Second half: the model side — risk, the four boxes, the threshold, and forty names.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933"/>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E4EAEE"/>
                </a:solidFill>
                <a:latin typeface="Calibri" pitchFamily="34" charset="0"/>
                <a:ea typeface="Calibri" pitchFamily="34" charset="-122"/>
                <a:cs typeface="Calibri" pitchFamily="34" charset="-120"/>
              </a:rPr>
              <a:t>60–73 min · Theory B</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E4EAEE"/>
                </a:solidFill>
                <a:latin typeface="Calibri" pitchFamily="34" charset="0"/>
                <a:ea typeface="Calibri" pitchFamily="34" charset="-122"/>
                <a:cs typeface="Calibri" pitchFamily="34" charset="-120"/>
              </a:rPr>
              <a:t>PAPER · on your reading list  ·  Ma et al. (2020), “A data-driven risk measurement model of software developer turnover”, Soft Computing 24  ·  a framework, not a theory</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E4EAEE"/>
                </a:solidFill>
                <a:latin typeface="Calibri" pitchFamily="34" charset="0"/>
                <a:ea typeface="Calibri" pitchFamily="34" charset="-122"/>
                <a:cs typeface="Calibri" pitchFamily="34" charset="-120"/>
              </a:rPr>
              <a:t>16</a:t>
            </a:r>
            <a:endParaRPr lang="en-US" sz="900" dirty="0"/>
          </a:p>
        </p:txBody>
      </p:sp>
      <p:sp>
        <p:nvSpPr>
          <p:cNvPr id="7" name="Text 5"/>
          <p:cNvSpPr txBox="1"/>
          <p:nvPr/>
        </p:nvSpPr>
        <p:spPr>
          <a:xfrm>
            <a:off x="548640" y="457200"/>
            <a:ext cx="3657600" cy="320040"/>
          </a:xfrm>
          <a:prstGeom prst="rect">
            <a:avLst/>
          </a:prstGeom>
          <a:noFill/>
          <a:ln/>
        </p:spPr>
        <p:txBody>
          <a:bodyPr wrap="square" lIns="0" tIns="0" rIns="0" bIns="0" rtlCol="0" anchor="t"/>
          <a:lstStyle/>
          <a:p>
            <a:pPr algn="l" indent="0" marL="0">
              <a:buNone/>
            </a:pPr>
            <a:r>
              <a:rPr lang="en-US" sz="1200" b="1" dirty="0">
                <a:solidFill>
                  <a:srgbClr val="E4EAEE"/>
                </a:solidFill>
                <a:latin typeface="Calibri" pitchFamily="34" charset="0"/>
                <a:ea typeface="Calibri" pitchFamily="34" charset="-122"/>
                <a:cs typeface="Calibri" pitchFamily="34" charset="-120"/>
              </a:rPr>
              <a:t>THEORY B</a:t>
            </a:r>
            <a:endParaRPr lang="en-US" sz="1200" dirty="0"/>
          </a:p>
        </p:txBody>
      </p:sp>
      <p:sp>
        <p:nvSpPr>
          <p:cNvPr id="8" name="Text 6"/>
          <p:cNvSpPr txBox="1"/>
          <p:nvPr/>
        </p:nvSpPr>
        <p:spPr>
          <a:xfrm>
            <a:off x="548640" y="82296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Turnover risk quantification</a:t>
            </a:r>
            <a:endParaRPr lang="en-US" sz="3400" dirty="0"/>
          </a:p>
        </p:txBody>
      </p:sp>
      <p:sp>
        <p:nvSpPr>
          <p:cNvPr id="9" name="Shape 7"/>
          <p:cNvSpPr/>
          <p:nvPr/>
        </p:nvSpPr>
        <p:spPr>
          <a:xfrm>
            <a:off x="548640" y="1783080"/>
            <a:ext cx="8046720" cy="1325880"/>
          </a:xfrm>
          <a:prstGeom prst="roundRect">
            <a:avLst>
              <a:gd name="adj" fmla="val 5517"/>
            </a:avLst>
          </a:prstGeom>
          <a:solidFill>
            <a:srgbClr val="2B3A46"/>
          </a:solidFill>
          <a:ln w="12700">
            <a:solidFill>
              <a:srgbClr val="2B3A46"/>
            </a:solidFill>
            <a:prstDash val="solid"/>
          </a:ln>
        </p:spPr>
      </p:sp>
      <p:sp>
        <p:nvSpPr>
          <p:cNvPr id="10" name="Text 8"/>
          <p:cNvSpPr txBox="1"/>
          <p:nvPr/>
        </p:nvSpPr>
        <p:spPr>
          <a:xfrm>
            <a:off x="777240" y="1874520"/>
            <a:ext cx="7589520" cy="274320"/>
          </a:xfrm>
          <a:prstGeom prst="rect">
            <a:avLst/>
          </a:prstGeom>
          <a:noFill/>
          <a:ln/>
        </p:spPr>
        <p:txBody>
          <a:bodyPr wrap="square" lIns="0" tIns="0" rIns="0" bIns="0" rtlCol="0" anchor="t"/>
          <a:lstStyle/>
          <a:p>
            <a:pPr algn="l" indent="0" marL="0">
              <a:buNone/>
            </a:pPr>
            <a:r>
              <a:rPr lang="en-US" sz="1100" b="1" dirty="0">
                <a:solidFill>
                  <a:srgbClr val="E4EAEE"/>
                </a:solidFill>
                <a:latin typeface="Calibri" pitchFamily="34" charset="0"/>
                <a:ea typeface="Calibri" pitchFamily="34" charset="-122"/>
                <a:cs typeface="Calibri" pitchFamily="34" charset="-120"/>
              </a:rPr>
              <a:t>Line 1 — the claim</a:t>
            </a:r>
            <a:endParaRPr lang="en-US" sz="1100" dirty="0"/>
          </a:p>
        </p:txBody>
      </p:sp>
      <p:sp>
        <p:nvSpPr>
          <p:cNvPr id="11" name="Text 9"/>
          <p:cNvSpPr txBox="1"/>
          <p:nvPr/>
        </p:nvSpPr>
        <p:spPr>
          <a:xfrm>
            <a:off x="777240" y="2148840"/>
            <a:ext cx="7589520" cy="914400"/>
          </a:xfrm>
          <a:prstGeom prst="rect">
            <a:avLst/>
          </a:prstGeom>
          <a:noFill/>
          <a:ln/>
        </p:spPr>
        <p:txBody>
          <a:bodyPr wrap="square" lIns="0" tIns="0" rIns="0" bIns="0" rtlCol="0" anchor="t"/>
          <a:lstStyle/>
          <a:p>
            <a:pPr algn="l" indent="0" marL="0">
              <a:buNone/>
            </a:pPr>
            <a:r>
              <a:rPr lang="en-US" sz="1600" dirty="0">
                <a:solidFill>
                  <a:srgbClr val="FFFFFF"/>
                </a:solidFill>
                <a:latin typeface="Cambria" pitchFamily="34" charset="0"/>
                <a:ea typeface="Cambria" pitchFamily="34" charset="-122"/>
                <a:cs typeface="Cambria" pitchFamily="34" charset="-120"/>
              </a:rPr>
              <a:t>Turnover risk = uncertainty × loss. A person’s importance is computed from work records, not assumed from the job title — so prediction becomes a priced decision.</a:t>
            </a:r>
            <a:endParaRPr lang="en-US" sz="1600" dirty="0"/>
          </a:p>
        </p:txBody>
      </p:sp>
      <p:sp>
        <p:nvSpPr>
          <p:cNvPr id="12" name="Shape 10"/>
          <p:cNvSpPr/>
          <p:nvPr/>
        </p:nvSpPr>
        <p:spPr>
          <a:xfrm>
            <a:off x="548640" y="3246120"/>
            <a:ext cx="8046720" cy="1188720"/>
          </a:xfrm>
          <a:prstGeom prst="roundRect">
            <a:avLst>
              <a:gd name="adj" fmla="val 6154"/>
            </a:avLst>
          </a:prstGeom>
          <a:solidFill>
            <a:srgbClr val="2B3A46"/>
          </a:solidFill>
          <a:ln w="12700">
            <a:solidFill>
              <a:srgbClr val="2B3A46"/>
            </a:solidFill>
            <a:prstDash val="solid"/>
          </a:ln>
        </p:spPr>
      </p:sp>
      <p:sp>
        <p:nvSpPr>
          <p:cNvPr id="13" name="Text 11"/>
          <p:cNvSpPr txBox="1"/>
          <p:nvPr/>
        </p:nvSpPr>
        <p:spPr>
          <a:xfrm>
            <a:off x="777240" y="3337560"/>
            <a:ext cx="7589520" cy="274320"/>
          </a:xfrm>
          <a:prstGeom prst="rect">
            <a:avLst/>
          </a:prstGeom>
          <a:noFill/>
          <a:ln/>
        </p:spPr>
        <p:txBody>
          <a:bodyPr wrap="square" lIns="0" tIns="0" rIns="0" bIns="0" rtlCol="0" anchor="t"/>
          <a:lstStyle/>
          <a:p>
            <a:pPr algn="l" indent="0" marL="0">
              <a:buNone/>
            </a:pPr>
            <a:r>
              <a:rPr lang="en-US" sz="1100" b="1" dirty="0">
                <a:solidFill>
                  <a:srgbClr val="E4EAEE"/>
                </a:solidFill>
                <a:latin typeface="Calibri" pitchFamily="34" charset="0"/>
                <a:ea typeface="Calibri" pitchFamily="34" charset="-122"/>
                <a:cs typeface="Calibri" pitchFamily="34" charset="-120"/>
              </a:rPr>
              <a:t>Line 2 — the source</a:t>
            </a:r>
            <a:endParaRPr lang="en-US" sz="1100" dirty="0"/>
          </a:p>
        </p:txBody>
      </p:sp>
      <p:sp>
        <p:nvSpPr>
          <p:cNvPr id="14" name="Text 12"/>
          <p:cNvSpPr txBox="1"/>
          <p:nvPr/>
        </p:nvSpPr>
        <p:spPr>
          <a:xfrm>
            <a:off x="777240" y="3611880"/>
            <a:ext cx="7589520" cy="77724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Ma et al. (2020), Soft Computing 24. On your reading list. It is a framework for measuring, not a theory of why people leave — Theory A does that job.</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60–73 min · the mechanism</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PAPER · Ma et al. (2020): developer importance from commit event logs; uncertainty via information entropy; individual and whole-project risk</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17</a:t>
            </a:r>
            <a:endParaRPr lang="en-US" sz="900" dirty="0"/>
          </a:p>
        </p:txBody>
      </p:sp>
      <p:sp>
        <p:nvSpPr>
          <p:cNvPr id="7" name="Text 5"/>
          <p:cNvSpPr txBox="1"/>
          <p:nvPr/>
        </p:nvSpPr>
        <p:spPr>
          <a:xfrm>
            <a:off x="1005840" y="347472"/>
            <a:ext cx="54864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Two different rankings</a:t>
            </a:r>
            <a:endParaRPr lang="en-US" sz="2400" dirty="0"/>
          </a:p>
        </p:txBody>
      </p:sp>
      <p:sp>
        <p:nvSpPr>
          <p:cNvPr id="8" name="Shape 6"/>
          <p:cNvSpPr/>
          <p:nvPr/>
        </p:nvSpPr>
        <p:spPr>
          <a:xfrm>
            <a:off x="457200" y="1051560"/>
            <a:ext cx="8229600" cy="685800"/>
          </a:xfrm>
          <a:prstGeom prst="roundRect">
            <a:avLst>
              <a:gd name="adj" fmla="val 10667"/>
            </a:avLst>
          </a:prstGeom>
          <a:solidFill>
            <a:srgbClr val="1F2933"/>
          </a:solidFill>
          <a:ln w="12700">
            <a:solidFill>
              <a:srgbClr val="1F2933"/>
            </a:solidFill>
            <a:prstDash val="solid"/>
          </a:ln>
        </p:spPr>
      </p:sp>
      <p:sp>
        <p:nvSpPr>
          <p:cNvPr id="9" name="Text 7"/>
          <p:cNvSpPr txBox="1"/>
          <p:nvPr/>
        </p:nvSpPr>
        <p:spPr>
          <a:xfrm>
            <a:off x="640080" y="1051560"/>
            <a:ext cx="786384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RISK  =  UNCERTAINTY (will they go?)  ×  LOSS (what breaks if they do?)</a:t>
            </a:r>
            <a:endParaRPr lang="en-US" sz="1800" dirty="0"/>
          </a:p>
        </p:txBody>
      </p:sp>
      <p:sp>
        <p:nvSpPr>
          <p:cNvPr id="10" name="Shape 8"/>
          <p:cNvSpPr/>
          <p:nvPr/>
        </p:nvSpPr>
        <p:spPr>
          <a:xfrm>
            <a:off x="457200" y="1920240"/>
            <a:ext cx="4023360" cy="1828800"/>
          </a:xfrm>
          <a:prstGeom prst="roundRect">
            <a:avLst>
              <a:gd name="adj" fmla="val 4000"/>
            </a:avLst>
          </a:prstGeom>
          <a:solidFill>
            <a:srgbClr val="F3F6F8"/>
          </a:solidFill>
          <a:ln w="12700">
            <a:solidFill>
              <a:srgbClr val="F3F6F8"/>
            </a:solidFill>
            <a:prstDash val="solid"/>
          </a:ln>
        </p:spPr>
      </p:sp>
      <p:sp>
        <p:nvSpPr>
          <p:cNvPr id="11" name="Text 9"/>
          <p:cNvSpPr txBox="1"/>
          <p:nvPr/>
        </p:nvSpPr>
        <p:spPr>
          <a:xfrm>
            <a:off x="594360" y="201168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Ranking 1 — most likely to leave</a:t>
            </a:r>
            <a:endParaRPr lang="en-US" sz="1300" dirty="0"/>
          </a:p>
        </p:txBody>
      </p:sp>
      <p:sp>
        <p:nvSpPr>
          <p:cNvPr id="12" name="Text 10"/>
          <p:cNvSpPr txBox="1"/>
          <p:nvPr/>
        </p:nvSpPr>
        <p:spPr>
          <a:xfrm>
            <a:off x="594360" y="2286254"/>
            <a:ext cx="3749040" cy="137134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Probability from the attrition model. High score, but fully replaceable? Not worth a retention payment.</a:t>
            </a:r>
            <a:endParaRPr lang="en-US" sz="1250" dirty="0"/>
          </a:p>
        </p:txBody>
      </p:sp>
      <p:sp>
        <p:nvSpPr>
          <p:cNvPr id="13" name="Shape 11"/>
          <p:cNvSpPr/>
          <p:nvPr/>
        </p:nvSpPr>
        <p:spPr>
          <a:xfrm>
            <a:off x="4663440" y="1920240"/>
            <a:ext cx="4023360" cy="1828800"/>
          </a:xfrm>
          <a:prstGeom prst="roundRect">
            <a:avLst>
              <a:gd name="adj" fmla="val 4000"/>
            </a:avLst>
          </a:prstGeom>
          <a:solidFill>
            <a:srgbClr val="F8ECE7"/>
          </a:solidFill>
          <a:ln w="12700">
            <a:solidFill>
              <a:srgbClr val="F8ECE7"/>
            </a:solidFill>
            <a:prstDash val="solid"/>
          </a:ln>
        </p:spPr>
      </p:sp>
      <p:sp>
        <p:nvSpPr>
          <p:cNvPr id="14" name="Text 12"/>
          <p:cNvSpPr txBox="1"/>
          <p:nvPr/>
        </p:nvSpPr>
        <p:spPr>
          <a:xfrm>
            <a:off x="4800600" y="201168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Ranking 2 — hurts most if they leave</a:t>
            </a:r>
            <a:endParaRPr lang="en-US" sz="1300" dirty="0"/>
          </a:p>
        </p:txBody>
      </p:sp>
      <p:sp>
        <p:nvSpPr>
          <p:cNvPr id="15" name="Text 13"/>
          <p:cNvSpPr txBox="1"/>
          <p:nvPr/>
        </p:nvSpPr>
        <p:spPr>
          <a:xfrm>
            <a:off x="4800600" y="2286254"/>
            <a:ext cx="3749040" cy="137134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Importance computed from work records: who touched which parts of the system, how often, how recently. Low score, but irreplaceable? Start the knowledge transfer now.</a:t>
            </a:r>
            <a:endParaRPr lang="en-US" sz="1250" dirty="0"/>
          </a:p>
        </p:txBody>
      </p:sp>
      <p:sp>
        <p:nvSpPr>
          <p:cNvPr id="16" name="Shape 14"/>
          <p:cNvSpPr/>
          <p:nvPr/>
        </p:nvSpPr>
        <p:spPr>
          <a:xfrm>
            <a:off x="457200" y="3886200"/>
            <a:ext cx="8229600" cy="685800"/>
          </a:xfrm>
          <a:prstGeom prst="roundRect">
            <a:avLst>
              <a:gd name="adj" fmla="val 10667"/>
            </a:avLst>
          </a:prstGeom>
          <a:solidFill>
            <a:srgbClr val="F3F6F8"/>
          </a:solidFill>
          <a:ln w="12700">
            <a:solidFill>
              <a:srgbClr val="F3F6F8"/>
            </a:solidFill>
            <a:prstDash val="solid"/>
          </a:ln>
        </p:spPr>
      </p:sp>
      <p:sp>
        <p:nvSpPr>
          <p:cNvPr id="17" name="Text 15"/>
          <p:cNvSpPr txBox="1"/>
          <p:nvPr/>
        </p:nvSpPr>
        <p:spPr>
          <a:xfrm>
            <a:off x="640080" y="3931920"/>
            <a:ext cx="7863840" cy="594360"/>
          </a:xfrm>
          <a:prstGeom prst="rect">
            <a:avLst/>
          </a:prstGeom>
          <a:noFill/>
          <a:ln/>
        </p:spPr>
        <p:txBody>
          <a:bodyPr wrap="square" lIns="0" tIns="0" rIns="0" bIns="0" rtlCol="0" anchor="ctr"/>
          <a:lstStyle/>
          <a:p>
            <a:pPr algn="l" indent="0" marL="0">
              <a:buNone/>
            </a:pPr>
            <a:r>
              <a:rPr lang="en-US" sz="1250" i="1" dirty="0">
                <a:solidFill>
                  <a:srgbClr val="1F2933"/>
                </a:solidFill>
                <a:latin typeface="Cambria" pitchFamily="34" charset="0"/>
                <a:ea typeface="Cambria" pitchFamily="34" charset="-122"/>
                <a:cs typeface="Cambria" pitchFamily="34" charset="-120"/>
              </a:rPr>
              <a:t>The catch: “work records” means commit logs. Computing importance from them is employee monitoring. Hold that thought for the last fifteen minutes.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60–73 min · bridge 1</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TEXTBOOK · Ch.5 p.118 (which error to tolerate, decided up front)  ·  INSTRUCTOR: the HK$ figures are yours to fill in class</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18</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Four boxes — price the two wrong ones</a:t>
            </a:r>
            <a:endParaRPr lang="en-US" sz="2400" dirty="0"/>
          </a:p>
        </p:txBody>
      </p:sp>
      <p:sp>
        <p:nvSpPr>
          <p:cNvPr id="8" name="Text 6"/>
          <p:cNvSpPr txBox="1"/>
          <p:nvPr/>
        </p:nvSpPr>
        <p:spPr>
          <a:xfrm>
            <a:off x="2011680" y="1051560"/>
            <a:ext cx="2651760" cy="320040"/>
          </a:xfrm>
          <a:prstGeom prst="rect">
            <a:avLst/>
          </a:prstGeom>
          <a:noFill/>
          <a:ln/>
        </p:spPr>
        <p:txBody>
          <a:bodyPr wrap="square" lIns="0" tIns="0" rIns="0" bIns="0" rtlCol="0" anchor="t"/>
          <a:lstStyle/>
          <a:p>
            <a:pPr algn="ctr" indent="0" marL="0">
              <a:buNone/>
            </a:pPr>
            <a:r>
              <a:rPr lang="en-US" sz="1200" b="1" dirty="0">
                <a:solidFill>
                  <a:srgbClr val="52606D"/>
                </a:solidFill>
                <a:latin typeface="Calibri" pitchFamily="34" charset="0"/>
                <a:ea typeface="Calibri" pitchFamily="34" charset="-122"/>
                <a:cs typeface="Calibri" pitchFamily="34" charset="-120"/>
              </a:rPr>
              <a:t>Actually left</a:t>
            </a:r>
            <a:endParaRPr lang="en-US" sz="1200" dirty="0"/>
          </a:p>
        </p:txBody>
      </p:sp>
      <p:sp>
        <p:nvSpPr>
          <p:cNvPr id="9" name="Text 7"/>
          <p:cNvSpPr txBox="1"/>
          <p:nvPr/>
        </p:nvSpPr>
        <p:spPr>
          <a:xfrm>
            <a:off x="4754880" y="1051560"/>
            <a:ext cx="2651760" cy="320040"/>
          </a:xfrm>
          <a:prstGeom prst="rect">
            <a:avLst/>
          </a:prstGeom>
          <a:noFill/>
          <a:ln/>
        </p:spPr>
        <p:txBody>
          <a:bodyPr wrap="square" lIns="0" tIns="0" rIns="0" bIns="0" rtlCol="0" anchor="t"/>
          <a:lstStyle/>
          <a:p>
            <a:pPr algn="ctr" indent="0" marL="0">
              <a:buNone/>
            </a:pPr>
            <a:r>
              <a:rPr lang="en-US" sz="1200" b="1" dirty="0">
                <a:solidFill>
                  <a:srgbClr val="52606D"/>
                </a:solidFill>
                <a:latin typeface="Calibri" pitchFamily="34" charset="0"/>
                <a:ea typeface="Calibri" pitchFamily="34" charset="-122"/>
                <a:cs typeface="Calibri" pitchFamily="34" charset="-120"/>
              </a:rPr>
              <a:t>Actually stayed</a:t>
            </a:r>
            <a:endParaRPr lang="en-US" sz="1200" dirty="0"/>
          </a:p>
        </p:txBody>
      </p:sp>
      <p:sp>
        <p:nvSpPr>
          <p:cNvPr id="10" name="Text 8"/>
          <p:cNvSpPr txBox="1"/>
          <p:nvPr/>
        </p:nvSpPr>
        <p:spPr>
          <a:xfrm>
            <a:off x="457200" y="1417320"/>
            <a:ext cx="1463040" cy="1325880"/>
          </a:xfrm>
          <a:prstGeom prst="rect">
            <a:avLst/>
          </a:prstGeom>
          <a:noFill/>
          <a:ln/>
        </p:spPr>
        <p:txBody>
          <a:bodyPr wrap="square" lIns="0" tIns="0" rIns="0" bIns="0" rtlCol="0" anchor="ctr"/>
          <a:lstStyle/>
          <a:p>
            <a:pPr algn="r" indent="0" marL="0">
              <a:buNone/>
            </a:pPr>
            <a:r>
              <a:rPr lang="en-US" sz="1200" b="1" dirty="0">
                <a:solidFill>
                  <a:srgbClr val="52606D"/>
                </a:solidFill>
                <a:latin typeface="Calibri" pitchFamily="34" charset="0"/>
                <a:ea typeface="Calibri" pitchFamily="34" charset="-122"/>
                <a:cs typeface="Calibri" pitchFamily="34" charset="-120"/>
              </a:rPr>
              <a:t>Predicted</a:t>
            </a:r>
            <a:endParaRPr lang="en-US" sz="1200" dirty="0"/>
          </a:p>
          <a:p>
            <a:pPr algn="r" indent="0" marL="0">
              <a:buNone/>
            </a:pPr>
            <a:r>
              <a:rPr lang="en-US" sz="1200" b="1" dirty="0">
                <a:solidFill>
                  <a:srgbClr val="52606D"/>
                </a:solidFill>
                <a:latin typeface="Calibri" pitchFamily="34" charset="0"/>
                <a:ea typeface="Calibri" pitchFamily="34" charset="-122"/>
                <a:cs typeface="Calibri" pitchFamily="34" charset="-120"/>
              </a:rPr>
              <a:t>to leave</a:t>
            </a:r>
            <a:endParaRPr lang="en-US" sz="1200" dirty="0"/>
          </a:p>
        </p:txBody>
      </p:sp>
      <p:sp>
        <p:nvSpPr>
          <p:cNvPr id="11" name="Text 9"/>
          <p:cNvSpPr txBox="1"/>
          <p:nvPr/>
        </p:nvSpPr>
        <p:spPr>
          <a:xfrm>
            <a:off x="457200" y="2834640"/>
            <a:ext cx="1463040" cy="1325880"/>
          </a:xfrm>
          <a:prstGeom prst="rect">
            <a:avLst/>
          </a:prstGeom>
          <a:noFill/>
          <a:ln/>
        </p:spPr>
        <p:txBody>
          <a:bodyPr wrap="square" lIns="0" tIns="0" rIns="0" bIns="0" rtlCol="0" anchor="ctr"/>
          <a:lstStyle/>
          <a:p>
            <a:pPr algn="r" indent="0" marL="0">
              <a:buNone/>
            </a:pPr>
            <a:r>
              <a:rPr lang="en-US" sz="1200" b="1" dirty="0">
                <a:solidFill>
                  <a:srgbClr val="52606D"/>
                </a:solidFill>
                <a:latin typeface="Calibri" pitchFamily="34" charset="0"/>
                <a:ea typeface="Calibri" pitchFamily="34" charset="-122"/>
                <a:cs typeface="Calibri" pitchFamily="34" charset="-120"/>
              </a:rPr>
              <a:t>Predicted</a:t>
            </a:r>
            <a:endParaRPr lang="en-US" sz="1200" dirty="0"/>
          </a:p>
          <a:p>
            <a:pPr algn="r" indent="0" marL="0">
              <a:buNone/>
            </a:pPr>
            <a:r>
              <a:rPr lang="en-US" sz="1200" b="1" dirty="0">
                <a:solidFill>
                  <a:srgbClr val="52606D"/>
                </a:solidFill>
                <a:latin typeface="Calibri" pitchFamily="34" charset="0"/>
                <a:ea typeface="Calibri" pitchFamily="34" charset="-122"/>
                <a:cs typeface="Calibri" pitchFamily="34" charset="-120"/>
              </a:rPr>
              <a:t>to stay</a:t>
            </a:r>
            <a:endParaRPr lang="en-US" sz="1200" dirty="0"/>
          </a:p>
        </p:txBody>
      </p:sp>
      <p:sp>
        <p:nvSpPr>
          <p:cNvPr id="12" name="Shape 10"/>
          <p:cNvSpPr/>
          <p:nvPr/>
        </p:nvSpPr>
        <p:spPr>
          <a:xfrm>
            <a:off x="2011680" y="1417320"/>
            <a:ext cx="2651760" cy="1325880"/>
          </a:xfrm>
          <a:prstGeom prst="roundRect">
            <a:avLst>
              <a:gd name="adj" fmla="val 4138"/>
            </a:avLst>
          </a:prstGeom>
          <a:solidFill>
            <a:srgbClr val="E4EAEE"/>
          </a:solidFill>
          <a:ln w="12700">
            <a:solidFill>
              <a:srgbClr val="E4EAEE"/>
            </a:solidFill>
            <a:prstDash val="solid"/>
          </a:ln>
        </p:spPr>
      </p:sp>
      <p:sp>
        <p:nvSpPr>
          <p:cNvPr id="13" name="Text 11"/>
          <p:cNvSpPr txBox="1"/>
          <p:nvPr/>
        </p:nvSpPr>
        <p:spPr>
          <a:xfrm>
            <a:off x="2121408" y="1490472"/>
            <a:ext cx="2432304" cy="274320"/>
          </a:xfrm>
          <a:prstGeom prst="rect">
            <a:avLst/>
          </a:prstGeom>
          <a:noFill/>
          <a:ln/>
        </p:spPr>
        <p:txBody>
          <a:bodyPr wrap="square" lIns="0" tIns="0" rIns="0" bIns="0" rtlCol="0" anchor="t"/>
          <a:lstStyle/>
          <a:p>
            <a:pPr algn="l" indent="0" marL="0">
              <a:buNone/>
            </a:pPr>
            <a:r>
              <a:rPr lang="en-US" sz="1200" b="1" dirty="0">
                <a:solidFill>
                  <a:srgbClr val="1F2933"/>
                </a:solidFill>
                <a:latin typeface="Calibri" pitchFamily="34" charset="0"/>
                <a:ea typeface="Calibri" pitchFamily="34" charset="-122"/>
                <a:cs typeface="Calibri" pitchFamily="34" charset="-120"/>
              </a:rPr>
              <a:t>True positive</a:t>
            </a:r>
            <a:endParaRPr lang="en-US" sz="1200" dirty="0"/>
          </a:p>
        </p:txBody>
      </p:sp>
      <p:sp>
        <p:nvSpPr>
          <p:cNvPr id="14" name="Text 12"/>
          <p:cNvSpPr txBox="1"/>
          <p:nvPr/>
        </p:nvSpPr>
        <p:spPr>
          <a:xfrm>
            <a:off x="2121408" y="1783080"/>
            <a:ext cx="2432304" cy="914400"/>
          </a:xfrm>
          <a:prstGeom prst="rect">
            <a:avLst/>
          </a:prstGeom>
          <a:noFill/>
          <a:ln/>
        </p:spPr>
        <p:txBody>
          <a:bodyPr wrap="square" lIns="0" tIns="0" rIns="0" bIns="0" rtlCol="0" anchor="t"/>
          <a:lstStyle/>
          <a:p>
            <a:pPr algn="l" indent="0" marL="0">
              <a:buNone/>
            </a:pPr>
            <a:r>
              <a:rPr lang="en-US" sz="1100" dirty="0">
                <a:solidFill>
                  <a:srgbClr val="1F2933"/>
                </a:solidFill>
                <a:latin typeface="Calibri" pitchFamily="34" charset="0"/>
                <a:ea typeface="Calibri" pitchFamily="34" charset="-122"/>
                <a:cs typeface="Calibri" pitchFamily="34" charset="-120"/>
              </a:rPr>
              <a:t>Flagged, and they left. The model earned its keep.</a:t>
            </a:r>
            <a:endParaRPr lang="en-US" sz="1100" dirty="0"/>
          </a:p>
        </p:txBody>
      </p:sp>
      <p:sp>
        <p:nvSpPr>
          <p:cNvPr id="15" name="Shape 13"/>
          <p:cNvSpPr/>
          <p:nvPr/>
        </p:nvSpPr>
        <p:spPr>
          <a:xfrm>
            <a:off x="4754880" y="1417320"/>
            <a:ext cx="2651760" cy="1325880"/>
          </a:xfrm>
          <a:prstGeom prst="roundRect">
            <a:avLst>
              <a:gd name="adj" fmla="val 4138"/>
            </a:avLst>
          </a:prstGeom>
          <a:solidFill>
            <a:srgbClr val="F8ECE7"/>
          </a:solidFill>
          <a:ln w="12700">
            <a:solidFill>
              <a:srgbClr val="F8ECE7"/>
            </a:solidFill>
            <a:prstDash val="solid"/>
          </a:ln>
        </p:spPr>
      </p:sp>
      <p:sp>
        <p:nvSpPr>
          <p:cNvPr id="16" name="Text 14"/>
          <p:cNvSpPr txBox="1"/>
          <p:nvPr/>
        </p:nvSpPr>
        <p:spPr>
          <a:xfrm>
            <a:off x="4864608" y="1490472"/>
            <a:ext cx="2432304" cy="274320"/>
          </a:xfrm>
          <a:prstGeom prst="rect">
            <a:avLst/>
          </a:prstGeom>
          <a:noFill/>
          <a:ln/>
        </p:spPr>
        <p:txBody>
          <a:bodyPr wrap="square" lIns="0" tIns="0" rIns="0" bIns="0" rtlCol="0" anchor="t"/>
          <a:lstStyle/>
          <a:p>
            <a:pPr algn="l" indent="0" marL="0">
              <a:buNone/>
            </a:pPr>
            <a:r>
              <a:rPr lang="en-US" sz="1200" b="1" dirty="0">
                <a:solidFill>
                  <a:srgbClr val="C8553D"/>
                </a:solidFill>
                <a:latin typeface="Calibri" pitchFamily="34" charset="0"/>
                <a:ea typeface="Calibri" pitchFamily="34" charset="-122"/>
                <a:cs typeface="Calibri" pitchFamily="34" charset="-120"/>
              </a:rPr>
              <a:t>False positive</a:t>
            </a:r>
            <a:endParaRPr lang="en-US" sz="1200" dirty="0"/>
          </a:p>
        </p:txBody>
      </p:sp>
      <p:sp>
        <p:nvSpPr>
          <p:cNvPr id="17" name="Text 15"/>
          <p:cNvSpPr txBox="1"/>
          <p:nvPr/>
        </p:nvSpPr>
        <p:spPr>
          <a:xfrm>
            <a:off x="4864608" y="1783080"/>
            <a:ext cx="2432304" cy="914400"/>
          </a:xfrm>
          <a:prstGeom prst="rect">
            <a:avLst/>
          </a:prstGeom>
          <a:noFill/>
          <a:ln/>
        </p:spPr>
        <p:txBody>
          <a:bodyPr wrap="square" lIns="0" tIns="0" rIns="0" bIns="0" rtlCol="0" anchor="t"/>
          <a:lstStyle/>
          <a:p>
            <a:pPr algn="l" indent="0" marL="0">
              <a:buNone/>
            </a:pPr>
            <a:r>
              <a:rPr lang="en-US" sz="1100" dirty="0">
                <a:solidFill>
                  <a:srgbClr val="1F2933"/>
                </a:solidFill>
                <a:latin typeface="Calibri" pitchFamily="34" charset="0"/>
                <a:ea typeface="Calibri" pitchFamily="34" charset="-122"/>
                <a:cs typeface="Calibri" pitchFamily="34" charset="-120"/>
              </a:rPr>
              <a:t>Flagged, and they were never leaving. You spent on them anyway.</a:t>
            </a:r>
            <a:endParaRPr lang="en-US" sz="1100" dirty="0"/>
          </a:p>
          <a:p>
            <a:pPr algn="l" indent="0" marL="0">
              <a:buNone/>
            </a:pPr>
            <a:r>
              <a:rPr lang="en-US" sz="1100" dirty="0">
                <a:solidFill>
                  <a:srgbClr val="1F2933"/>
                </a:solidFill>
                <a:latin typeface="Calibri" pitchFamily="34" charset="0"/>
                <a:ea typeface="Calibri" pitchFamily="34" charset="-122"/>
                <a:cs typeface="Calibri" pitchFamily="34" charset="-120"/>
              </a:rPr>
              <a:t>HK$ ____________</a:t>
            </a:r>
            <a:endParaRPr lang="en-US" sz="1100" dirty="0"/>
          </a:p>
        </p:txBody>
      </p:sp>
      <p:sp>
        <p:nvSpPr>
          <p:cNvPr id="18" name="Shape 16"/>
          <p:cNvSpPr/>
          <p:nvPr/>
        </p:nvSpPr>
        <p:spPr>
          <a:xfrm>
            <a:off x="2011680" y="2834640"/>
            <a:ext cx="2651760" cy="1325880"/>
          </a:xfrm>
          <a:prstGeom prst="roundRect">
            <a:avLst>
              <a:gd name="adj" fmla="val 4138"/>
            </a:avLst>
          </a:prstGeom>
          <a:solidFill>
            <a:srgbClr val="F8ECE7"/>
          </a:solidFill>
          <a:ln w="12700">
            <a:solidFill>
              <a:srgbClr val="F8ECE7"/>
            </a:solidFill>
            <a:prstDash val="solid"/>
          </a:ln>
        </p:spPr>
      </p:sp>
      <p:sp>
        <p:nvSpPr>
          <p:cNvPr id="19" name="Text 17"/>
          <p:cNvSpPr txBox="1"/>
          <p:nvPr/>
        </p:nvSpPr>
        <p:spPr>
          <a:xfrm>
            <a:off x="2121408" y="2907792"/>
            <a:ext cx="2432304" cy="274320"/>
          </a:xfrm>
          <a:prstGeom prst="rect">
            <a:avLst/>
          </a:prstGeom>
          <a:noFill/>
          <a:ln/>
        </p:spPr>
        <p:txBody>
          <a:bodyPr wrap="square" lIns="0" tIns="0" rIns="0" bIns="0" rtlCol="0" anchor="t"/>
          <a:lstStyle/>
          <a:p>
            <a:pPr algn="l" indent="0" marL="0">
              <a:buNone/>
            </a:pPr>
            <a:r>
              <a:rPr lang="en-US" sz="1200" b="1" dirty="0">
                <a:solidFill>
                  <a:srgbClr val="C8553D"/>
                </a:solidFill>
                <a:latin typeface="Calibri" pitchFamily="34" charset="0"/>
                <a:ea typeface="Calibri" pitchFamily="34" charset="-122"/>
                <a:cs typeface="Calibri" pitchFamily="34" charset="-120"/>
              </a:rPr>
              <a:t>False negative</a:t>
            </a:r>
            <a:endParaRPr lang="en-US" sz="1200" dirty="0"/>
          </a:p>
        </p:txBody>
      </p:sp>
      <p:sp>
        <p:nvSpPr>
          <p:cNvPr id="20" name="Text 18"/>
          <p:cNvSpPr txBox="1"/>
          <p:nvPr/>
        </p:nvSpPr>
        <p:spPr>
          <a:xfrm>
            <a:off x="2121408" y="3200400"/>
            <a:ext cx="2432304" cy="914400"/>
          </a:xfrm>
          <a:prstGeom prst="rect">
            <a:avLst/>
          </a:prstGeom>
          <a:noFill/>
          <a:ln/>
        </p:spPr>
        <p:txBody>
          <a:bodyPr wrap="square" lIns="0" tIns="0" rIns="0" bIns="0" rtlCol="0" anchor="t"/>
          <a:lstStyle/>
          <a:p>
            <a:pPr algn="l" indent="0" marL="0">
              <a:buNone/>
            </a:pPr>
            <a:r>
              <a:rPr lang="en-US" sz="1100" dirty="0">
                <a:solidFill>
                  <a:srgbClr val="1F2933"/>
                </a:solidFill>
                <a:latin typeface="Calibri" pitchFamily="34" charset="0"/>
                <a:ea typeface="Calibri" pitchFamily="34" charset="-122"/>
                <a:cs typeface="Calibri" pitchFamily="34" charset="-120"/>
              </a:rPr>
              <a:t>Not flagged, and they walked. The engineer nobody saw coming.</a:t>
            </a:r>
            <a:endParaRPr lang="en-US" sz="1100" dirty="0"/>
          </a:p>
          <a:p>
            <a:pPr algn="l" indent="0" marL="0">
              <a:buNone/>
            </a:pPr>
            <a:r>
              <a:rPr lang="en-US" sz="1100" dirty="0">
                <a:solidFill>
                  <a:srgbClr val="1F2933"/>
                </a:solidFill>
                <a:latin typeface="Calibri" pitchFamily="34" charset="0"/>
                <a:ea typeface="Calibri" pitchFamily="34" charset="-122"/>
                <a:cs typeface="Calibri" pitchFamily="34" charset="-120"/>
              </a:rPr>
              <a:t>HK$ ____________</a:t>
            </a:r>
            <a:endParaRPr lang="en-US" sz="1100" dirty="0"/>
          </a:p>
        </p:txBody>
      </p:sp>
      <p:sp>
        <p:nvSpPr>
          <p:cNvPr id="21" name="Shape 19"/>
          <p:cNvSpPr/>
          <p:nvPr/>
        </p:nvSpPr>
        <p:spPr>
          <a:xfrm>
            <a:off x="4754880" y="2834640"/>
            <a:ext cx="2651760" cy="1325880"/>
          </a:xfrm>
          <a:prstGeom prst="roundRect">
            <a:avLst>
              <a:gd name="adj" fmla="val 4138"/>
            </a:avLst>
          </a:prstGeom>
          <a:solidFill>
            <a:srgbClr val="E4EAEE"/>
          </a:solidFill>
          <a:ln w="12700">
            <a:solidFill>
              <a:srgbClr val="E4EAEE"/>
            </a:solidFill>
            <a:prstDash val="solid"/>
          </a:ln>
        </p:spPr>
      </p:sp>
      <p:sp>
        <p:nvSpPr>
          <p:cNvPr id="22" name="Text 20"/>
          <p:cNvSpPr txBox="1"/>
          <p:nvPr/>
        </p:nvSpPr>
        <p:spPr>
          <a:xfrm>
            <a:off x="4864608" y="2907792"/>
            <a:ext cx="2432304" cy="274320"/>
          </a:xfrm>
          <a:prstGeom prst="rect">
            <a:avLst/>
          </a:prstGeom>
          <a:noFill/>
          <a:ln/>
        </p:spPr>
        <p:txBody>
          <a:bodyPr wrap="square" lIns="0" tIns="0" rIns="0" bIns="0" rtlCol="0" anchor="t"/>
          <a:lstStyle/>
          <a:p>
            <a:pPr algn="l" indent="0" marL="0">
              <a:buNone/>
            </a:pPr>
            <a:r>
              <a:rPr lang="en-US" sz="1200" b="1" dirty="0">
                <a:solidFill>
                  <a:srgbClr val="1F2933"/>
                </a:solidFill>
                <a:latin typeface="Calibri" pitchFamily="34" charset="0"/>
                <a:ea typeface="Calibri" pitchFamily="34" charset="-122"/>
                <a:cs typeface="Calibri" pitchFamily="34" charset="-120"/>
              </a:rPr>
              <a:t>True negative</a:t>
            </a:r>
            <a:endParaRPr lang="en-US" sz="1200" dirty="0"/>
          </a:p>
        </p:txBody>
      </p:sp>
      <p:sp>
        <p:nvSpPr>
          <p:cNvPr id="23" name="Text 21"/>
          <p:cNvSpPr txBox="1"/>
          <p:nvPr/>
        </p:nvSpPr>
        <p:spPr>
          <a:xfrm>
            <a:off x="4864608" y="3200400"/>
            <a:ext cx="2432304" cy="914400"/>
          </a:xfrm>
          <a:prstGeom prst="rect">
            <a:avLst/>
          </a:prstGeom>
          <a:noFill/>
          <a:ln/>
        </p:spPr>
        <p:txBody>
          <a:bodyPr wrap="square" lIns="0" tIns="0" rIns="0" bIns="0" rtlCol="0" anchor="t"/>
          <a:lstStyle/>
          <a:p>
            <a:pPr algn="l" indent="0" marL="0">
              <a:buNone/>
            </a:pPr>
            <a:r>
              <a:rPr lang="en-US" sz="1100" dirty="0">
                <a:solidFill>
                  <a:srgbClr val="1F2933"/>
                </a:solidFill>
                <a:latin typeface="Calibri" pitchFamily="34" charset="0"/>
                <a:ea typeface="Calibri" pitchFamily="34" charset="-122"/>
                <a:cs typeface="Calibri" pitchFamily="34" charset="-120"/>
              </a:rPr>
              <a:t>Not flagged, and they stayed. Nothing to do.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60–73 min · bridge 2</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the most important sentence of the four Sundays</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19</a:t>
            </a:r>
            <a:endParaRPr lang="en-US" sz="900" dirty="0"/>
          </a:p>
        </p:txBody>
      </p:sp>
      <p:sp>
        <p:nvSpPr>
          <p:cNvPr id="7" name="Text 5"/>
          <p:cNvSpPr txBox="1"/>
          <p:nvPr/>
        </p:nvSpPr>
        <p:spPr>
          <a:xfrm>
            <a:off x="1005840" y="347472"/>
            <a:ext cx="73152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Where you cut is not in the model</a:t>
            </a:r>
            <a:endParaRPr lang="en-US" sz="2400" dirty="0"/>
          </a:p>
        </p:txBody>
      </p:sp>
      <p:sp>
        <p:nvSpPr>
          <p:cNvPr id="8" name="Shape 6"/>
          <p:cNvSpPr/>
          <p:nvPr/>
        </p:nvSpPr>
        <p:spPr>
          <a:xfrm>
            <a:off x="914400" y="1874520"/>
            <a:ext cx="7315200" cy="164592"/>
          </a:xfrm>
          <a:prstGeom prst="rect">
            <a:avLst/>
          </a:prstGeom>
          <a:solidFill>
            <a:srgbClr val="E4EAEE"/>
          </a:solidFill>
          <a:ln w="12700">
            <a:solidFill>
              <a:srgbClr val="E4EAEE"/>
            </a:solidFill>
            <a:prstDash val="solid"/>
          </a:ln>
        </p:spPr>
      </p:sp>
      <p:sp>
        <p:nvSpPr>
          <p:cNvPr id="9" name="Shape 7"/>
          <p:cNvSpPr/>
          <p:nvPr/>
        </p:nvSpPr>
        <p:spPr>
          <a:xfrm>
            <a:off x="914400" y="1874520"/>
            <a:ext cx="3657600" cy="164592"/>
          </a:xfrm>
          <a:prstGeom prst="rect">
            <a:avLst/>
          </a:prstGeom>
          <a:solidFill>
            <a:srgbClr val="5C7A8A"/>
          </a:solidFill>
          <a:ln w="12700">
            <a:solidFill>
              <a:srgbClr val="5C7A8A"/>
            </a:solidFill>
            <a:prstDash val="solid"/>
          </a:ln>
        </p:spPr>
      </p:sp>
      <p:sp>
        <p:nvSpPr>
          <p:cNvPr id="10" name="Shape 8"/>
          <p:cNvSpPr/>
          <p:nvPr/>
        </p:nvSpPr>
        <p:spPr>
          <a:xfrm>
            <a:off x="4389120" y="1691640"/>
            <a:ext cx="502920" cy="502920"/>
          </a:xfrm>
          <a:prstGeom prst="ellipse">
            <a:avLst/>
          </a:prstGeom>
          <a:solidFill>
            <a:srgbClr val="C8553D"/>
          </a:solidFill>
          <a:ln w="25400">
            <a:solidFill>
              <a:srgbClr val="FFFFFF"/>
            </a:solidFill>
            <a:prstDash val="solid"/>
          </a:ln>
        </p:spPr>
      </p:sp>
      <p:sp>
        <p:nvSpPr>
          <p:cNvPr id="11" name="Text 9"/>
          <p:cNvSpPr txBox="1"/>
          <p:nvPr/>
        </p:nvSpPr>
        <p:spPr>
          <a:xfrm>
            <a:off x="822960" y="2148840"/>
            <a:ext cx="365760" cy="27432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0</a:t>
            </a:r>
            <a:endParaRPr lang="en-US" sz="1200" dirty="0"/>
          </a:p>
        </p:txBody>
      </p:sp>
      <p:sp>
        <p:nvSpPr>
          <p:cNvPr id="12" name="Text 10"/>
          <p:cNvSpPr txBox="1"/>
          <p:nvPr/>
        </p:nvSpPr>
        <p:spPr>
          <a:xfrm>
            <a:off x="8046720" y="2148840"/>
            <a:ext cx="365760" cy="27432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4160520" y="1234440"/>
            <a:ext cx="1005840" cy="320040"/>
          </a:xfrm>
          <a:prstGeom prst="rect">
            <a:avLst/>
          </a:prstGeom>
          <a:noFill/>
          <a:ln/>
        </p:spPr>
        <p:txBody>
          <a:bodyPr wrap="square" lIns="0" tIns="0" rIns="0" bIns="0" rtlCol="0" anchor="t"/>
          <a:lstStyle/>
          <a:p>
            <a:pPr algn="ctr" indent="0" marL="0">
              <a:buNone/>
            </a:pPr>
            <a:r>
              <a:rPr lang="en-US" sz="1100" b="1" dirty="0">
                <a:solidFill>
                  <a:srgbClr val="C8553D"/>
                </a:solidFill>
                <a:latin typeface="Calibri" pitchFamily="34" charset="0"/>
                <a:ea typeface="Calibri" pitchFamily="34" charset="-122"/>
                <a:cs typeface="Calibri" pitchFamily="34" charset="-120"/>
              </a:rPr>
              <a:t>score = 0.50</a:t>
            </a:r>
            <a:endParaRPr lang="en-US" sz="1100" dirty="0"/>
          </a:p>
        </p:txBody>
      </p:sp>
      <p:sp>
        <p:nvSpPr>
          <p:cNvPr id="14" name="Shape 12"/>
          <p:cNvSpPr/>
          <p:nvPr/>
        </p:nvSpPr>
        <p:spPr>
          <a:xfrm>
            <a:off x="640080" y="2651760"/>
            <a:ext cx="3749040" cy="1600200"/>
          </a:xfrm>
          <a:prstGeom prst="roundRect">
            <a:avLst>
              <a:gd name="adj" fmla="val 4571"/>
            </a:avLst>
          </a:prstGeom>
          <a:solidFill>
            <a:srgbClr val="F3F6F8"/>
          </a:solidFill>
          <a:ln w="12700">
            <a:solidFill>
              <a:srgbClr val="F3F6F8"/>
            </a:solidFill>
            <a:prstDash val="solid"/>
          </a:ln>
        </p:spPr>
      </p:sp>
      <p:sp>
        <p:nvSpPr>
          <p:cNvPr id="15" name="Text 13"/>
          <p:cNvSpPr txBox="1"/>
          <p:nvPr/>
        </p:nvSpPr>
        <p:spPr>
          <a:xfrm>
            <a:off x="777240" y="2743200"/>
            <a:ext cx="347472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Cut low</a:t>
            </a:r>
            <a:endParaRPr lang="en-US" sz="1300" dirty="0"/>
          </a:p>
        </p:txBody>
      </p:sp>
      <p:sp>
        <p:nvSpPr>
          <p:cNvPr id="16" name="Text 14"/>
          <p:cNvSpPr txBox="1"/>
          <p:nvPr/>
        </p:nvSpPr>
        <p:spPr>
          <a:xfrm>
            <a:off x="777240" y="3017774"/>
            <a:ext cx="3474720" cy="114274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More names on the list. You spend money and conversations on people who were never leaving. More false positives.</a:t>
            </a:r>
            <a:endParaRPr lang="en-US" sz="1250" dirty="0"/>
          </a:p>
        </p:txBody>
      </p:sp>
      <p:sp>
        <p:nvSpPr>
          <p:cNvPr id="17" name="Shape 15"/>
          <p:cNvSpPr/>
          <p:nvPr/>
        </p:nvSpPr>
        <p:spPr>
          <a:xfrm>
            <a:off x="4754880" y="2651760"/>
            <a:ext cx="3749040" cy="1600200"/>
          </a:xfrm>
          <a:prstGeom prst="roundRect">
            <a:avLst>
              <a:gd name="adj" fmla="val 4571"/>
            </a:avLst>
          </a:prstGeom>
          <a:solidFill>
            <a:srgbClr val="F8ECE7"/>
          </a:solidFill>
          <a:ln w="12700">
            <a:solidFill>
              <a:srgbClr val="F8ECE7"/>
            </a:solidFill>
            <a:prstDash val="solid"/>
          </a:ln>
        </p:spPr>
      </p:sp>
      <p:sp>
        <p:nvSpPr>
          <p:cNvPr id="18" name="Text 16"/>
          <p:cNvSpPr txBox="1"/>
          <p:nvPr/>
        </p:nvSpPr>
        <p:spPr>
          <a:xfrm>
            <a:off x="4892040" y="2743200"/>
            <a:ext cx="347472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Cut high</a:t>
            </a:r>
            <a:endParaRPr lang="en-US" sz="1300" dirty="0"/>
          </a:p>
        </p:txBody>
      </p:sp>
      <p:sp>
        <p:nvSpPr>
          <p:cNvPr id="19" name="Text 17"/>
          <p:cNvSpPr txBox="1"/>
          <p:nvPr/>
        </p:nvSpPr>
        <p:spPr>
          <a:xfrm>
            <a:off x="4892040" y="3017774"/>
            <a:ext cx="3474720" cy="114274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Fewer names. You lose people you could have kept. More false negatives.</a:t>
            </a:r>
            <a:endParaRPr lang="en-US" sz="1250" dirty="0"/>
          </a:p>
        </p:txBody>
      </p:sp>
      <p:sp>
        <p:nvSpPr>
          <p:cNvPr id="20" name="Text 18"/>
          <p:cNvSpPr txBox="1"/>
          <p:nvPr/>
        </p:nvSpPr>
        <p:spPr>
          <a:xfrm>
            <a:off x="640080" y="4224528"/>
            <a:ext cx="7863840" cy="457200"/>
          </a:xfrm>
          <a:prstGeom prst="rect">
            <a:avLst/>
          </a:prstGeom>
          <a:noFill/>
          <a:ln/>
        </p:spPr>
        <p:txBody>
          <a:bodyPr wrap="square" lIns="0" tIns="0" rIns="0" bIns="0" rtlCol="0" anchor="t"/>
          <a:lstStyle/>
          <a:p>
            <a:pPr algn="l" indent="0" marL="0">
              <a:buNone/>
            </a:pPr>
            <a:r>
              <a:rPr lang="en-US" sz="1250" i="1" dirty="0">
                <a:solidFill>
                  <a:srgbClr val="C8553D"/>
                </a:solidFill>
                <a:latin typeface="Cambria" pitchFamily="34" charset="0"/>
                <a:ea typeface="Cambria" pitchFamily="34" charset="-122"/>
                <a:cs typeface="Cambria" pitchFamily="34" charset="-120"/>
              </a:rPr>
              <a:t>“There is no correct answer — there is only your cost on each side. That decision is yours, not the data scientist’s.”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60–73 min · bridge 3</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synthetic numbers; the point is arithmetic, not data</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20</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Accuracy can find nobody</a:t>
            </a:r>
            <a:endParaRPr lang="en-US" sz="2400" dirty="0"/>
          </a:p>
        </p:txBody>
      </p:sp>
      <p:graphicFrame>
        <p:nvGraphicFramePr>
          <p:cNvPr id="8" name="Chart 0" descr=""/>
          <p:cNvGraphicFramePr/>
          <p:nvPr/>
        </p:nvGraphicFramePr>
        <p:xfrm>
          <a:off x="457200" y="109728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937760" y="1280160"/>
            <a:ext cx="3657600" cy="914400"/>
          </a:xfrm>
          <a:prstGeom prst="rect">
            <a:avLst/>
          </a:prstGeom>
          <a:noFill/>
          <a:ln/>
        </p:spPr>
        <p:txBody>
          <a:bodyPr wrap="square" lIns="0" tIns="0" rIns="0" bIns="0" rtlCol="0" anchor="ctr"/>
          <a:lstStyle/>
          <a:p>
            <a:pPr algn="ctr" indent="0" marL="0">
              <a:buNone/>
            </a:pPr>
            <a:r>
              <a:rPr lang="en-US" sz="5600" b="1" dirty="0">
                <a:solidFill>
                  <a:srgbClr val="C8553D"/>
                </a:solidFill>
                <a:latin typeface="Cambria" pitchFamily="34" charset="0"/>
                <a:ea typeface="Cambria" pitchFamily="34" charset="-122"/>
                <a:cs typeface="Cambria" pitchFamily="34" charset="-120"/>
              </a:rPr>
              <a:t>88%</a:t>
            </a:r>
            <a:endParaRPr lang="en-US" sz="5600" dirty="0"/>
          </a:p>
        </p:txBody>
      </p:sp>
      <p:sp>
        <p:nvSpPr>
          <p:cNvPr id="10" name="Text 7"/>
          <p:cNvSpPr txBox="1"/>
          <p:nvPr/>
        </p:nvSpPr>
        <p:spPr>
          <a:xfrm>
            <a:off x="4937760" y="2212848"/>
            <a:ext cx="3657600" cy="685800"/>
          </a:xfrm>
          <a:prstGeom prst="rect">
            <a:avLst/>
          </a:prstGeom>
          <a:noFill/>
          <a:ln/>
        </p:spPr>
        <p:txBody>
          <a:bodyPr wrap="square" lIns="0" tIns="0" rIns="0" bIns="0" rtlCol="0" anchor="t"/>
          <a:lstStyle/>
          <a:p>
            <a:pPr algn="ctr" indent="0" marL="0">
              <a:buNone/>
            </a:pPr>
            <a:r>
              <a:rPr lang="en-US" sz="1200" dirty="0">
                <a:solidFill>
                  <a:srgbClr val="52606D"/>
                </a:solidFill>
                <a:latin typeface="Calibri" pitchFamily="34" charset="0"/>
                <a:ea typeface="Calibri" pitchFamily="34" charset="-122"/>
                <a:cs typeface="Calibri" pitchFamily="34" charset="-120"/>
              </a:rPr>
              <a:t>accuracy of a model that predicts “nobody leaves”</a:t>
            </a:r>
            <a:endParaRPr lang="en-US" sz="1200" dirty="0"/>
          </a:p>
        </p:txBody>
      </p:sp>
      <p:sp>
        <p:nvSpPr>
          <p:cNvPr id="11" name="Text 8"/>
          <p:cNvSpPr txBox="1"/>
          <p:nvPr/>
        </p:nvSpPr>
        <p:spPr>
          <a:xfrm>
            <a:off x="4937760" y="2743200"/>
            <a:ext cx="3657600" cy="365760"/>
          </a:xfrm>
          <a:prstGeom prst="rect">
            <a:avLst/>
          </a:prstGeom>
          <a:noFill/>
          <a:ln/>
        </p:spPr>
        <p:txBody>
          <a:bodyPr wrap="square" lIns="0" tIns="0" rIns="0" bIns="0" rtlCol="0" anchor="t"/>
          <a:lstStyle/>
          <a:p>
            <a:pPr algn="ctr" indent="0" marL="0">
              <a:buNone/>
            </a:pPr>
            <a:r>
              <a:rPr lang="en-US" sz="1600" b="1" dirty="0">
                <a:solidFill>
                  <a:srgbClr val="1F2933"/>
                </a:solidFill>
                <a:latin typeface="Calibri" pitchFamily="34" charset="0"/>
                <a:ea typeface="Calibri" pitchFamily="34" charset="-122"/>
                <a:cs typeface="Calibri" pitchFamily="34" charset="-120"/>
              </a:rPr>
              <a:t>Leavers found: 0.</a:t>
            </a:r>
            <a:endParaRPr lang="en-US" sz="1600" dirty="0"/>
          </a:p>
        </p:txBody>
      </p:sp>
      <p:sp>
        <p:nvSpPr>
          <p:cNvPr id="12" name="Text 9"/>
          <p:cNvSpPr txBox="1"/>
          <p:nvPr/>
        </p:nvSpPr>
        <p:spPr>
          <a:xfrm>
            <a:off x="4937760" y="3200400"/>
            <a:ext cx="3657600" cy="1188720"/>
          </a:xfrm>
          <a:prstGeom prst="rect">
            <a:avLst/>
          </a:prstGeom>
          <a:noFill/>
          <a:ln/>
        </p:spPr>
        <p:txBody>
          <a:bodyPr wrap="square" lIns="0" tIns="0" rIns="0" bIns="0" rtlCol="0" anchor="t"/>
          <a:lstStyle/>
          <a:p>
            <a:pPr algn="l" indent="0" marL="0">
              <a:buNone/>
            </a:pPr>
            <a:r>
              <a:rPr lang="en-US" sz="1200" i="1" dirty="0">
                <a:solidFill>
                  <a:srgbClr val="52606D"/>
                </a:solidFill>
                <a:latin typeface="Cambria" pitchFamily="34" charset="0"/>
                <a:ea typeface="Cambria" pitchFamily="34" charset="-122"/>
                <a:cs typeface="Cambria" pitchFamily="34" charset="-120"/>
              </a:rPr>
              <a:t>“Anyone who quotes accuracy at you has told you nothing. The right question is what each kind of error costs you. How to measure it properly — Dr Lee.”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73–80 min · check B</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PAPER · Khera &amp; Divya (2018), Vision 23(1)  ·  PAPER · Al Akasheh et al. (2023), Expert Systems with Applications  ·  PRESS · CNBC, 3 April 2019 (IBM CEO claim; not a paper)</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21</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Three numbers, one question</a:t>
            </a:r>
            <a:endParaRPr lang="en-US" sz="2400" dirty="0"/>
          </a:p>
        </p:txBody>
      </p:sp>
      <p:sp>
        <p:nvSpPr>
          <p:cNvPr id="8" name="Shape 6"/>
          <p:cNvSpPr/>
          <p:nvPr/>
        </p:nvSpPr>
        <p:spPr>
          <a:xfrm>
            <a:off x="457200" y="1097280"/>
            <a:ext cx="2651760" cy="2743200"/>
          </a:xfrm>
          <a:prstGeom prst="roundRect">
            <a:avLst>
              <a:gd name="adj" fmla="val 2759"/>
            </a:avLst>
          </a:prstGeom>
          <a:solidFill>
            <a:srgbClr val="F3F6F8"/>
          </a:solidFill>
          <a:ln w="12700">
            <a:solidFill>
              <a:srgbClr val="F3F6F8"/>
            </a:solidFill>
            <a:prstDash val="solid"/>
          </a:ln>
        </p:spPr>
      </p:sp>
      <p:sp>
        <p:nvSpPr>
          <p:cNvPr id="9" name="Text 7"/>
          <p:cNvSpPr txBox="1"/>
          <p:nvPr/>
        </p:nvSpPr>
        <p:spPr>
          <a:xfrm>
            <a:off x="594360" y="1188720"/>
            <a:ext cx="2377440" cy="439420"/>
          </a:xfrm>
          <a:prstGeom prst="rect">
            <a:avLst/>
          </a:prstGeom>
          <a:noFill/>
          <a:ln/>
        </p:spPr>
        <p:txBody>
          <a:bodyPr wrap="square" lIns="0" tIns="0" rIns="0" bIns="0" rtlCol="0" anchor="t"/>
          <a:lstStyle/>
          <a:p>
            <a:pPr indent="0" marL="0">
              <a:buNone/>
            </a:pPr>
            <a:r>
              <a:rPr lang="en-US" sz="2600" b="1" dirty="0">
                <a:solidFill>
                  <a:srgbClr val="5C7A8A"/>
                </a:solidFill>
                <a:latin typeface="Cambria" pitchFamily="34" charset="0"/>
                <a:ea typeface="Cambria" pitchFamily="34" charset="-122"/>
                <a:cs typeface="Cambria" pitchFamily="34" charset="-120"/>
              </a:rPr>
              <a:t>85%</a:t>
            </a:r>
            <a:endParaRPr lang="en-US" sz="2600" dirty="0"/>
          </a:p>
        </p:txBody>
      </p:sp>
      <p:sp>
        <p:nvSpPr>
          <p:cNvPr id="10" name="Text 8"/>
          <p:cNvSpPr txBox="1"/>
          <p:nvPr/>
        </p:nvSpPr>
        <p:spPr>
          <a:xfrm>
            <a:off x="594360" y="1664716"/>
            <a:ext cx="2377440" cy="18465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Reported accuracy of a support-vector-machine turnover model: three Indian IT firms, 22 input features.</a:t>
            </a:r>
            <a:endParaRPr lang="en-US" sz="1200" dirty="0"/>
          </a:p>
          <a:p>
            <a:pPr indent="0" marL="0">
              <a:buNone/>
            </a:pP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Ask: accurate at what? How many of the 85 were simply “stayed”?</a:t>
            </a:r>
            <a:endParaRPr lang="en-US" sz="1200" dirty="0"/>
          </a:p>
        </p:txBody>
      </p:sp>
      <p:sp>
        <p:nvSpPr>
          <p:cNvPr id="11" name="Text 9"/>
          <p:cNvSpPr txBox="1"/>
          <p:nvPr/>
        </p:nvSpPr>
        <p:spPr>
          <a:xfrm>
            <a:off x="594360" y="3547872"/>
            <a:ext cx="23774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Khera &amp; Divya (2018) — on your list</a:t>
            </a:r>
            <a:endParaRPr lang="en-US" sz="850" dirty="0"/>
          </a:p>
        </p:txBody>
      </p:sp>
      <p:sp>
        <p:nvSpPr>
          <p:cNvPr id="12" name="Shape 10"/>
          <p:cNvSpPr/>
          <p:nvPr/>
        </p:nvSpPr>
        <p:spPr>
          <a:xfrm>
            <a:off x="3246120" y="1097280"/>
            <a:ext cx="2651760" cy="2743200"/>
          </a:xfrm>
          <a:prstGeom prst="roundRect">
            <a:avLst>
              <a:gd name="adj" fmla="val 2759"/>
            </a:avLst>
          </a:prstGeom>
          <a:solidFill>
            <a:srgbClr val="F8ECE7"/>
          </a:solidFill>
          <a:ln w="12700">
            <a:solidFill>
              <a:srgbClr val="F8ECE7"/>
            </a:solidFill>
            <a:prstDash val="solid"/>
          </a:ln>
        </p:spPr>
      </p:sp>
      <p:sp>
        <p:nvSpPr>
          <p:cNvPr id="13" name="Text 11"/>
          <p:cNvSpPr txBox="1"/>
          <p:nvPr/>
        </p:nvSpPr>
        <p:spPr>
          <a:xfrm>
            <a:off x="3383280" y="1188720"/>
            <a:ext cx="2377440" cy="439420"/>
          </a:xfrm>
          <a:prstGeom prst="rect">
            <a:avLst/>
          </a:prstGeom>
          <a:noFill/>
          <a:ln/>
        </p:spPr>
        <p:txBody>
          <a:bodyPr wrap="square" lIns="0" tIns="0" rIns="0" bIns="0" rtlCol="0" anchor="t"/>
          <a:lstStyle/>
          <a:p>
            <a:pPr indent="0" marL="0">
              <a:buNone/>
            </a:pPr>
            <a:r>
              <a:rPr lang="en-US" sz="2600" b="1" dirty="0">
                <a:solidFill>
                  <a:srgbClr val="C8553D"/>
                </a:solidFill>
                <a:latin typeface="Cambria" pitchFamily="34" charset="0"/>
                <a:ea typeface="Cambria" pitchFamily="34" charset="-122"/>
                <a:cs typeface="Cambria" pitchFamily="34" charset="-120"/>
              </a:rPr>
              <a:t>95%</a:t>
            </a:r>
            <a:endParaRPr lang="en-US" sz="2600" dirty="0"/>
          </a:p>
        </p:txBody>
      </p:sp>
      <p:sp>
        <p:nvSpPr>
          <p:cNvPr id="14" name="Text 12"/>
          <p:cNvSpPr txBox="1"/>
          <p:nvPr/>
        </p:nvSpPr>
        <p:spPr>
          <a:xfrm>
            <a:off x="3383280" y="1664716"/>
            <a:ext cx="2377440" cy="18465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IBM’s CEO told a CNBC summit its AI predicts who will quit with 95% accuracy and saved nearly US$300m — and declined to explain the “secret sauce”.</a:t>
            </a:r>
            <a:endParaRPr lang="en-US" sz="1200" dirty="0"/>
          </a:p>
          <a:p>
            <a:pPr indent="0" marL="0">
              <a:buNone/>
            </a:pP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Ask: on how many leavers, and who checked?</a:t>
            </a:r>
            <a:endParaRPr lang="en-US" sz="1200" dirty="0"/>
          </a:p>
        </p:txBody>
      </p:sp>
      <p:sp>
        <p:nvSpPr>
          <p:cNvPr id="15" name="Text 13"/>
          <p:cNvSpPr txBox="1"/>
          <p:nvPr/>
        </p:nvSpPr>
        <p:spPr>
          <a:xfrm>
            <a:off x="3383280" y="3547872"/>
            <a:ext cx="23774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CNBC, 2019 — a claim, not a study</a:t>
            </a:r>
            <a:endParaRPr lang="en-US" sz="850" dirty="0"/>
          </a:p>
        </p:txBody>
      </p:sp>
      <p:sp>
        <p:nvSpPr>
          <p:cNvPr id="16" name="Shape 14"/>
          <p:cNvSpPr/>
          <p:nvPr/>
        </p:nvSpPr>
        <p:spPr>
          <a:xfrm>
            <a:off x="6035040" y="1097280"/>
            <a:ext cx="2651760" cy="2743200"/>
          </a:xfrm>
          <a:prstGeom prst="roundRect">
            <a:avLst>
              <a:gd name="adj" fmla="val 2759"/>
            </a:avLst>
          </a:prstGeom>
          <a:solidFill>
            <a:srgbClr val="F3F6F8"/>
          </a:solidFill>
          <a:ln w="12700">
            <a:solidFill>
              <a:srgbClr val="F3F6F8"/>
            </a:solidFill>
            <a:prstDash val="solid"/>
          </a:ln>
        </p:spPr>
      </p:sp>
      <p:sp>
        <p:nvSpPr>
          <p:cNvPr id="17" name="Text 15"/>
          <p:cNvSpPr txBox="1"/>
          <p:nvPr/>
        </p:nvSpPr>
        <p:spPr>
          <a:xfrm>
            <a:off x="6172200" y="1188720"/>
            <a:ext cx="2377440" cy="439420"/>
          </a:xfrm>
          <a:prstGeom prst="rect">
            <a:avLst/>
          </a:prstGeom>
          <a:noFill/>
          <a:ln/>
        </p:spPr>
        <p:txBody>
          <a:bodyPr wrap="square" lIns="0" tIns="0" rIns="0" bIns="0" rtlCol="0" anchor="t"/>
          <a:lstStyle/>
          <a:p>
            <a:pPr indent="0" marL="0">
              <a:buNone/>
            </a:pPr>
            <a:r>
              <a:rPr lang="en-US" sz="2600" b="1" dirty="0">
                <a:solidFill>
                  <a:srgbClr val="3C7A5A"/>
                </a:solidFill>
                <a:latin typeface="Cambria" pitchFamily="34" charset="0"/>
                <a:ea typeface="Cambria" pitchFamily="34" charset="-122"/>
                <a:cs typeface="Cambria" pitchFamily="34" charset="-120"/>
              </a:rPr>
              <a:t>52 studies</a:t>
            </a:r>
            <a:endParaRPr lang="en-US" sz="2600" dirty="0"/>
          </a:p>
        </p:txBody>
      </p:sp>
      <p:sp>
        <p:nvSpPr>
          <p:cNvPr id="18" name="Text 16"/>
          <p:cNvSpPr txBox="1"/>
          <p:nvPr/>
        </p:nvSpPr>
        <p:spPr>
          <a:xfrm>
            <a:off x="6172200" y="1664716"/>
            <a:ext cx="2377440" cy="18465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Ten years of turnover-prediction research: over 20 techniques, 96% supervised learning, random forest most common. Strongest predictors across studies: pay and overtime.</a:t>
            </a:r>
            <a:endParaRPr lang="en-US" sz="1200" dirty="0"/>
          </a:p>
          <a:p>
            <a:pPr indent="0" marL="0">
              <a:buNone/>
            </a:pP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Ask: are those causes, or traces?</a:t>
            </a:r>
            <a:endParaRPr lang="en-US" sz="1200" dirty="0"/>
          </a:p>
        </p:txBody>
      </p:sp>
      <p:sp>
        <p:nvSpPr>
          <p:cNvPr id="19" name="Text 17"/>
          <p:cNvSpPr txBox="1"/>
          <p:nvPr/>
        </p:nvSpPr>
        <p:spPr>
          <a:xfrm>
            <a:off x="6172200" y="3547872"/>
            <a:ext cx="2377440" cy="219456"/>
          </a:xfrm>
          <a:prstGeom prst="rect">
            <a:avLst/>
          </a:prstGeom>
          <a:noFill/>
          <a:ln/>
        </p:spPr>
        <p:txBody>
          <a:bodyPr wrap="square" lIns="0" tIns="0" rIns="0" bIns="0" rtlCol="0" anchor="ctr"/>
          <a:lstStyle/>
          <a:p>
            <a:pPr indent="0" marL="0">
              <a:buNone/>
            </a:pPr>
            <a:r>
              <a:rPr lang="en-US" sz="850" spc="100" kern="0" dirty="0">
                <a:solidFill>
                  <a:srgbClr val="52606D"/>
                </a:solidFill>
                <a:latin typeface="Calibri" pitchFamily="34" charset="0"/>
                <a:ea typeface="Calibri" pitchFamily="34" charset="-122"/>
                <a:cs typeface="Calibri" pitchFamily="34" charset="-120"/>
              </a:rPr>
              <a:t>Al Akasheh et al. (2023) — on your list</a:t>
            </a:r>
            <a:endParaRPr lang="en-US" sz="850" dirty="0"/>
          </a:p>
        </p:txBody>
      </p:sp>
      <p:sp>
        <p:nvSpPr>
          <p:cNvPr id="20" name="Text 18"/>
          <p:cNvSpPr txBox="1"/>
          <p:nvPr/>
        </p:nvSpPr>
        <p:spPr>
          <a:xfrm>
            <a:off x="457200" y="4023360"/>
            <a:ext cx="8229600" cy="457200"/>
          </a:xfrm>
          <a:prstGeom prst="rect">
            <a:avLst/>
          </a:prstGeom>
          <a:noFill/>
          <a:ln/>
        </p:spPr>
        <p:txBody>
          <a:bodyPr wrap="square" lIns="0" tIns="0" rIns="0" bIns="0" rtlCol="0" anchor="t"/>
          <a:lstStyle/>
          <a:p>
            <a:pPr algn="l" indent="0" marL="0">
              <a:buNone/>
            </a:pPr>
            <a:r>
              <a:rPr lang="en-US" sz="1300" i="1" dirty="0">
                <a:solidFill>
                  <a:srgbClr val="52606D"/>
                </a:solidFill>
                <a:latin typeface="Cambria" pitchFamily="34" charset="0"/>
                <a:ea typeface="Cambria" pitchFamily="34" charset="-122"/>
                <a:cs typeface="Cambria" pitchFamily="34" charset="-120"/>
              </a:rPr>
              <a:t>Last Sunday was about the first predictor. Today is about the second — and about what a predictor is not.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73–80 min · check B</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TEXTBOOK · Ch.5 p.112–116 (a bank in Singapore)  ·  the first time in the book a prediction becomes an action</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22</a:t>
            </a:r>
            <a:endParaRPr lang="en-US" sz="9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Check B — the textbook’s Singapore bank</a:t>
            </a:r>
            <a:endParaRPr lang="en-US" sz="2400" dirty="0"/>
          </a:p>
        </p:txBody>
      </p:sp>
      <p:sp>
        <p:nvSpPr>
          <p:cNvPr id="8" name="Shape 6"/>
          <p:cNvSpPr/>
          <p:nvPr/>
        </p:nvSpPr>
        <p:spPr>
          <a:xfrm>
            <a:off x="457200" y="1161288"/>
            <a:ext cx="384048" cy="384048"/>
          </a:xfrm>
          <a:prstGeom prst="ellipse">
            <a:avLst/>
          </a:prstGeom>
          <a:solidFill>
            <a:srgbClr val="5C7A8A"/>
          </a:solidFill>
          <a:ln w="12700">
            <a:solidFill>
              <a:srgbClr val="5C7A8A"/>
            </a:solidFill>
            <a:prstDash val="solid"/>
          </a:ln>
        </p:spPr>
      </p:sp>
      <p:sp>
        <p:nvSpPr>
          <p:cNvPr id="9" name="Text 7"/>
          <p:cNvSpPr txBox="1"/>
          <p:nvPr/>
        </p:nvSpPr>
        <p:spPr>
          <a:xfrm>
            <a:off x="457200" y="1161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005840" y="1051560"/>
            <a:ext cx="3108960" cy="640080"/>
          </a:xfrm>
          <a:prstGeom prst="rect">
            <a:avLst/>
          </a:prstGeom>
          <a:noFill/>
          <a:ln/>
        </p:spPr>
        <p:txBody>
          <a:bodyPr wrap="square" lIns="0" tIns="0" rIns="0" bIns="0" rtlCol="0" anchor="ctr"/>
          <a:lstStyle/>
          <a:p>
            <a:pPr algn="l" indent="0" marL="0">
              <a:buNone/>
            </a:pPr>
            <a:r>
              <a:rPr lang="en-US" sz="1250" b="1" dirty="0">
                <a:solidFill>
                  <a:srgbClr val="1F2933"/>
                </a:solidFill>
                <a:latin typeface="Calibri" pitchFamily="34" charset="0"/>
                <a:ea typeface="Calibri" pitchFamily="34" charset="-122"/>
                <a:cs typeface="Calibri" pitchFamily="34" charset="-120"/>
              </a:rPr>
              <a:t>40% of new sales hires gone within 8 months</a:t>
            </a:r>
            <a:endParaRPr lang="en-US" sz="1250" dirty="0"/>
          </a:p>
        </p:txBody>
      </p:sp>
      <p:sp>
        <p:nvSpPr>
          <p:cNvPr id="11" name="Text 9"/>
          <p:cNvSpPr txBox="1"/>
          <p:nvPr/>
        </p:nvSpPr>
        <p:spPr>
          <a:xfrm>
            <a:off x="4206240" y="1051560"/>
            <a:ext cx="4480560" cy="640080"/>
          </a:xfrm>
          <a:prstGeom prst="rect">
            <a:avLst/>
          </a:prstGeom>
          <a:noFill/>
          <a:ln/>
        </p:spPr>
        <p:txBody>
          <a:bodyPr wrap="square" lIns="0" tIns="0" rIns="0" bIns="0" rtlCol="0" anchor="ctr"/>
          <a:lstStyle/>
          <a:p>
            <a:pPr algn="l" indent="0" marL="0">
              <a:buNone/>
            </a:pPr>
            <a:r>
              <a:rPr lang="en-US" sz="1150" dirty="0">
                <a:solidFill>
                  <a:srgbClr val="52606D"/>
                </a:solidFill>
                <a:latin typeface="Calibri" pitchFamily="34" charset="0"/>
                <a:ea typeface="Calibri" pitchFamily="34" charset="-122"/>
                <a:cs typeface="Calibri" pitchFamily="34" charset="-120"/>
              </a:rPr>
              <a:t>despite multiple interviews and psychometric tests</a:t>
            </a:r>
            <a:endParaRPr lang="en-US" sz="1150" dirty="0"/>
          </a:p>
        </p:txBody>
      </p:sp>
      <p:sp>
        <p:nvSpPr>
          <p:cNvPr id="12" name="Shape 10"/>
          <p:cNvSpPr/>
          <p:nvPr/>
        </p:nvSpPr>
        <p:spPr>
          <a:xfrm>
            <a:off x="457200" y="1874520"/>
            <a:ext cx="384048" cy="384048"/>
          </a:xfrm>
          <a:prstGeom prst="ellipse">
            <a:avLst/>
          </a:prstGeom>
          <a:solidFill>
            <a:srgbClr val="5C7A8A"/>
          </a:solidFill>
          <a:ln w="12700">
            <a:solidFill>
              <a:srgbClr val="5C7A8A"/>
            </a:solidFill>
            <a:prstDash val="solid"/>
          </a:ln>
        </p:spPr>
      </p:sp>
      <p:sp>
        <p:nvSpPr>
          <p:cNvPr id="13" name="Text 11"/>
          <p:cNvSpPr txBox="1"/>
          <p:nvPr/>
        </p:nvSpPr>
        <p:spPr>
          <a:xfrm>
            <a:off x="457200" y="18745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005840" y="1764792"/>
            <a:ext cx="3108960" cy="640080"/>
          </a:xfrm>
          <a:prstGeom prst="rect">
            <a:avLst/>
          </a:prstGeom>
          <a:noFill/>
          <a:ln/>
        </p:spPr>
        <p:txBody>
          <a:bodyPr wrap="square" lIns="0" tIns="0" rIns="0" bIns="0" rtlCol="0" anchor="ctr"/>
          <a:lstStyle/>
          <a:p>
            <a:pPr algn="l" indent="0" marL="0">
              <a:buNone/>
            </a:pPr>
            <a:r>
              <a:rPr lang="en-US" sz="1250" b="1" dirty="0">
                <a:solidFill>
                  <a:srgbClr val="1F2933"/>
                </a:solidFill>
                <a:latin typeface="Calibri" pitchFamily="34" charset="0"/>
                <a:ea typeface="Calibri" pitchFamily="34" charset="-122"/>
                <a:cs typeface="Calibri" pitchFamily="34" charset="-120"/>
              </a:rPr>
              <a:t>First pass: correlate everything</a:t>
            </a:r>
            <a:endParaRPr lang="en-US" sz="1250" dirty="0"/>
          </a:p>
        </p:txBody>
      </p:sp>
      <p:sp>
        <p:nvSpPr>
          <p:cNvPr id="15" name="Text 13"/>
          <p:cNvSpPr txBox="1"/>
          <p:nvPr/>
        </p:nvSpPr>
        <p:spPr>
          <a:xfrm>
            <a:off x="4206240" y="1764792"/>
            <a:ext cx="4480560" cy="640080"/>
          </a:xfrm>
          <a:prstGeom prst="rect">
            <a:avLst/>
          </a:prstGeom>
          <a:noFill/>
          <a:ln/>
        </p:spPr>
        <p:txBody>
          <a:bodyPr wrap="square" lIns="0" tIns="0" rIns="0" bIns="0" rtlCol="0" anchor="ctr"/>
          <a:lstStyle/>
          <a:p>
            <a:pPr algn="l" indent="0" marL="0">
              <a:buNone/>
            </a:pPr>
            <a:r>
              <a:rPr lang="en-US" sz="1150" dirty="0">
                <a:solidFill>
                  <a:srgbClr val="52606D"/>
                </a:solidFill>
                <a:latin typeface="Calibri" pitchFamily="34" charset="0"/>
                <a:ea typeface="Calibri" pitchFamily="34" charset="-122"/>
                <a:cs typeface="Calibri" pitchFamily="34" charset="-120"/>
              </a:rPr>
              <a:t>found distance from home, interviewer bias, and that new hires learned the incentive scheme only on day one in the branch</a:t>
            </a:r>
            <a:endParaRPr lang="en-US" sz="1150" dirty="0"/>
          </a:p>
        </p:txBody>
      </p:sp>
      <p:sp>
        <p:nvSpPr>
          <p:cNvPr id="16" name="Shape 14"/>
          <p:cNvSpPr/>
          <p:nvPr/>
        </p:nvSpPr>
        <p:spPr>
          <a:xfrm>
            <a:off x="457200" y="2587752"/>
            <a:ext cx="384048" cy="384048"/>
          </a:xfrm>
          <a:prstGeom prst="ellipse">
            <a:avLst/>
          </a:prstGeom>
          <a:solidFill>
            <a:srgbClr val="5C7A8A"/>
          </a:solidFill>
          <a:ln w="12700">
            <a:solidFill>
              <a:srgbClr val="5C7A8A"/>
            </a:solidFill>
            <a:prstDash val="solid"/>
          </a:ln>
        </p:spPr>
      </p:sp>
      <p:sp>
        <p:nvSpPr>
          <p:cNvPr id="17" name="Text 15"/>
          <p:cNvSpPr txBox="1"/>
          <p:nvPr/>
        </p:nvSpPr>
        <p:spPr>
          <a:xfrm>
            <a:off x="457200" y="2587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005840" y="2478024"/>
            <a:ext cx="3108960" cy="640080"/>
          </a:xfrm>
          <a:prstGeom prst="rect">
            <a:avLst/>
          </a:prstGeom>
          <a:noFill/>
          <a:ln/>
        </p:spPr>
        <p:txBody>
          <a:bodyPr wrap="square" lIns="0" tIns="0" rIns="0" bIns="0" rtlCol="0" anchor="ctr"/>
          <a:lstStyle/>
          <a:p>
            <a:pPr algn="l" indent="0" marL="0">
              <a:buNone/>
            </a:pPr>
            <a:r>
              <a:rPr lang="en-US" sz="1250" b="1" dirty="0">
                <a:solidFill>
                  <a:srgbClr val="1F2933"/>
                </a:solidFill>
                <a:latin typeface="Calibri" pitchFamily="34" charset="0"/>
                <a:ea typeface="Calibri" pitchFamily="34" charset="-122"/>
                <a:cs typeface="Calibri" pitchFamily="34" charset="-120"/>
              </a:rPr>
              <a:t>Reframe: symptom, not problem</a:t>
            </a:r>
            <a:endParaRPr lang="en-US" sz="1250" dirty="0"/>
          </a:p>
        </p:txBody>
      </p:sp>
      <p:sp>
        <p:nvSpPr>
          <p:cNvPr id="19" name="Text 17"/>
          <p:cNvSpPr txBox="1"/>
          <p:nvPr/>
        </p:nvSpPr>
        <p:spPr>
          <a:xfrm>
            <a:off x="4206240" y="2478024"/>
            <a:ext cx="4480560" cy="640080"/>
          </a:xfrm>
          <a:prstGeom prst="rect">
            <a:avLst/>
          </a:prstGeom>
          <a:noFill/>
          <a:ln/>
        </p:spPr>
        <p:txBody>
          <a:bodyPr wrap="square" lIns="0" tIns="0" rIns="0" bIns="0" rtlCol="0" anchor="ctr"/>
          <a:lstStyle/>
          <a:p>
            <a:pPr algn="l" indent="0" marL="0">
              <a:buNone/>
            </a:pPr>
            <a:r>
              <a:rPr lang="en-US" sz="1150" dirty="0">
                <a:solidFill>
                  <a:srgbClr val="52606D"/>
                </a:solidFill>
                <a:latin typeface="Calibri" pitchFamily="34" charset="0"/>
                <a:ea typeface="Calibri" pitchFamily="34" charset="-122"/>
                <a:cs typeface="Calibri" pitchFamily="34" charset="-120"/>
              </a:rPr>
              <a:t>“Is the bank losing revenue opportunities?” — then field observation and one hypothesis: hiring quality</a:t>
            </a:r>
            <a:endParaRPr lang="en-US" sz="1150" dirty="0"/>
          </a:p>
        </p:txBody>
      </p:sp>
      <p:sp>
        <p:nvSpPr>
          <p:cNvPr id="20" name="Shape 18"/>
          <p:cNvSpPr/>
          <p:nvPr/>
        </p:nvSpPr>
        <p:spPr>
          <a:xfrm>
            <a:off x="457200" y="3300984"/>
            <a:ext cx="384048" cy="384048"/>
          </a:xfrm>
          <a:prstGeom prst="ellipse">
            <a:avLst/>
          </a:prstGeom>
          <a:solidFill>
            <a:srgbClr val="C8553D"/>
          </a:solidFill>
          <a:ln w="12700">
            <a:solidFill>
              <a:srgbClr val="C8553D"/>
            </a:solidFill>
            <a:prstDash val="solid"/>
          </a:ln>
        </p:spPr>
      </p:sp>
      <p:sp>
        <p:nvSpPr>
          <p:cNvPr id="21" name="Text 19"/>
          <p:cNvSpPr txBox="1"/>
          <p:nvPr/>
        </p:nvSpPr>
        <p:spPr>
          <a:xfrm>
            <a:off x="457200" y="33009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txBox="1"/>
          <p:nvPr/>
        </p:nvSpPr>
        <p:spPr>
          <a:xfrm>
            <a:off x="1005840" y="3191256"/>
            <a:ext cx="3108960" cy="640080"/>
          </a:xfrm>
          <a:prstGeom prst="rect">
            <a:avLst/>
          </a:prstGeom>
          <a:noFill/>
          <a:ln/>
        </p:spPr>
        <p:txBody>
          <a:bodyPr wrap="square" lIns="0" tIns="0" rIns="0" bIns="0" rtlCol="0" anchor="ctr"/>
          <a:lstStyle/>
          <a:p>
            <a:pPr algn="l" indent="0" marL="0">
              <a:buNone/>
            </a:pPr>
            <a:r>
              <a:rPr lang="en-US" sz="1250" b="1" dirty="0">
                <a:solidFill>
                  <a:srgbClr val="1F2933"/>
                </a:solidFill>
                <a:latin typeface="Calibri" pitchFamily="34" charset="0"/>
                <a:ea typeface="Calibri" pitchFamily="34" charset="-122"/>
                <a:cs typeface="Calibri" pitchFamily="34" charset="-120"/>
              </a:rPr>
              <a:t>A predictive model that acts</a:t>
            </a:r>
            <a:endParaRPr lang="en-US" sz="1250" dirty="0"/>
          </a:p>
        </p:txBody>
      </p:sp>
      <p:sp>
        <p:nvSpPr>
          <p:cNvPr id="23" name="Text 21"/>
          <p:cNvSpPr txBox="1"/>
          <p:nvPr/>
        </p:nvSpPr>
        <p:spPr>
          <a:xfrm>
            <a:off x="4206240" y="3191256"/>
            <a:ext cx="4480560" cy="640080"/>
          </a:xfrm>
          <a:prstGeom prst="rect">
            <a:avLst/>
          </a:prstGeom>
          <a:noFill/>
          <a:ln/>
        </p:spPr>
        <p:txBody>
          <a:bodyPr wrap="square" lIns="0" tIns="0" rIns="0" bIns="0" rtlCol="0" anchor="ctr"/>
          <a:lstStyle/>
          <a:p>
            <a:pPr algn="l" indent="0" marL="0">
              <a:buNone/>
            </a:pPr>
            <a:r>
              <a:rPr lang="en-US" sz="1150" dirty="0">
                <a:solidFill>
                  <a:srgbClr val="52606D"/>
                </a:solidFill>
                <a:latin typeface="Calibri" pitchFamily="34" charset="0"/>
                <a:ea typeface="Calibri" pitchFamily="34" charset="-122"/>
                <a:cs typeface="Calibri" pitchFamily="34" charset="-120"/>
              </a:rPr>
              <a:t>flags a new hire missing target and showing distress → taken out of the incentive scheme, given support</a:t>
            </a:r>
            <a:endParaRPr lang="en-US" sz="1150" dirty="0"/>
          </a:p>
        </p:txBody>
      </p:sp>
      <p:sp>
        <p:nvSpPr>
          <p:cNvPr id="24" name="Shape 22"/>
          <p:cNvSpPr/>
          <p:nvPr/>
        </p:nvSpPr>
        <p:spPr>
          <a:xfrm>
            <a:off x="457200" y="4014216"/>
            <a:ext cx="384048" cy="384048"/>
          </a:xfrm>
          <a:prstGeom prst="ellipse">
            <a:avLst/>
          </a:prstGeom>
          <a:solidFill>
            <a:srgbClr val="5C7A8A"/>
          </a:solidFill>
          <a:ln w="12700">
            <a:solidFill>
              <a:srgbClr val="5C7A8A"/>
            </a:solidFill>
            <a:prstDash val="solid"/>
          </a:ln>
        </p:spPr>
      </p:sp>
      <p:sp>
        <p:nvSpPr>
          <p:cNvPr id="25" name="Text 23"/>
          <p:cNvSpPr txBox="1"/>
          <p:nvPr/>
        </p:nvSpPr>
        <p:spPr>
          <a:xfrm>
            <a:off x="457200" y="4014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6" name="Text 24"/>
          <p:cNvSpPr txBox="1"/>
          <p:nvPr/>
        </p:nvSpPr>
        <p:spPr>
          <a:xfrm>
            <a:off x="1005840" y="3904488"/>
            <a:ext cx="3108960" cy="640080"/>
          </a:xfrm>
          <a:prstGeom prst="rect">
            <a:avLst/>
          </a:prstGeom>
          <a:noFill/>
          <a:ln/>
        </p:spPr>
        <p:txBody>
          <a:bodyPr wrap="square" lIns="0" tIns="0" rIns="0" bIns="0" rtlCol="0" anchor="ctr"/>
          <a:lstStyle/>
          <a:p>
            <a:pPr algn="l" indent="0" marL="0">
              <a:buNone/>
            </a:pPr>
            <a:r>
              <a:rPr lang="en-US" sz="1250" b="1" dirty="0">
                <a:solidFill>
                  <a:srgbClr val="1F2933"/>
                </a:solidFill>
                <a:latin typeface="Calibri" pitchFamily="34" charset="0"/>
                <a:ea typeface="Calibri" pitchFamily="34" charset="-122"/>
                <a:cs typeface="Calibri" pitchFamily="34" charset="-120"/>
              </a:rPr>
              <a:t>Result</a:t>
            </a:r>
            <a:endParaRPr lang="en-US" sz="1250" dirty="0"/>
          </a:p>
        </p:txBody>
      </p:sp>
      <p:sp>
        <p:nvSpPr>
          <p:cNvPr id="27" name="Text 25"/>
          <p:cNvSpPr txBox="1"/>
          <p:nvPr/>
        </p:nvSpPr>
        <p:spPr>
          <a:xfrm>
            <a:off x="4206240" y="3904488"/>
            <a:ext cx="4480560" cy="640080"/>
          </a:xfrm>
          <a:prstGeom prst="rect">
            <a:avLst/>
          </a:prstGeom>
          <a:noFill/>
          <a:ln/>
        </p:spPr>
        <p:txBody>
          <a:bodyPr wrap="square" lIns="0" tIns="0" rIns="0" bIns="0" rtlCol="0" anchor="ctr"/>
          <a:lstStyle/>
          <a:p>
            <a:pPr algn="l" indent="0" marL="0">
              <a:buNone/>
            </a:pPr>
            <a:r>
              <a:rPr lang="en-US" sz="1150" dirty="0">
                <a:solidFill>
                  <a:srgbClr val="52606D"/>
                </a:solidFill>
                <a:latin typeface="Calibri" pitchFamily="34" charset="0"/>
                <a:ea typeface="Calibri" pitchFamily="34" charset="-122"/>
                <a:cs typeface="Calibri" pitchFamily="34" charset="-120"/>
              </a:rPr>
              <a:t>quick exits down, cost to hire down, sales up — and the process runs on without the analytics team</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80–98 min · activity</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INSTRUCTOR · forty fictional employees, synthetic scores; no real employee data is used in this course</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23</a:t>
            </a:r>
            <a:endParaRPr lang="en-US" sz="900" dirty="0"/>
          </a:p>
        </p:txBody>
      </p:sp>
      <p:sp>
        <p:nvSpPr>
          <p:cNvPr id="7" name="Text 5"/>
          <p:cNvSpPr txBox="1"/>
          <p:nvPr/>
        </p:nvSpPr>
        <p:spPr>
          <a:xfrm>
            <a:off x="1005840" y="347472"/>
            <a:ext cx="54864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From score to action</a:t>
            </a:r>
            <a:endParaRPr lang="en-US" sz="2400" dirty="0"/>
          </a:p>
        </p:txBody>
      </p:sp>
      <p:sp>
        <p:nvSpPr>
          <p:cNvPr id="8" name="Text 6"/>
          <p:cNvSpPr txBox="1"/>
          <p:nvPr/>
        </p:nvSpPr>
        <p:spPr>
          <a:xfrm>
            <a:off x="457200" y="868680"/>
            <a:ext cx="8229600" cy="320040"/>
          </a:xfrm>
          <a:prstGeom prst="rect">
            <a:avLst/>
          </a:prstGeom>
          <a:noFill/>
          <a:ln/>
        </p:spPr>
        <p:txBody>
          <a:bodyPr wrap="square" lIns="0" tIns="0" rIns="0" bIns="0" rtlCol="0" anchor="t"/>
          <a:lstStyle/>
          <a:p>
            <a:pPr algn="l" indent="0" marL="0">
              <a:buNone/>
            </a:pPr>
            <a:r>
              <a:rPr lang="en-US" sz="1200" b="1" dirty="0">
                <a:solidFill>
                  <a:srgbClr val="C8553D"/>
                </a:solidFill>
                <a:latin typeface="Calibri" pitchFamily="34" charset="0"/>
                <a:ea typeface="Calibri" pitchFamily="34" charset="-122"/>
                <a:cs typeface="Calibri" pitchFamily="34" charset="-120"/>
              </a:rPr>
              <a:t>Screens off. Four groups. Ten minutes for part one.</a:t>
            </a:r>
            <a:endParaRPr lang="en-US" sz="1200" dirty="0"/>
          </a:p>
        </p:txBody>
      </p:sp>
      <p:sp>
        <p:nvSpPr>
          <p:cNvPr id="9" name="Shape 7"/>
          <p:cNvSpPr/>
          <p:nvPr/>
        </p:nvSpPr>
        <p:spPr>
          <a:xfrm>
            <a:off x="457200" y="1280160"/>
            <a:ext cx="4023360" cy="3108960"/>
          </a:xfrm>
          <a:prstGeom prst="roundRect">
            <a:avLst>
              <a:gd name="adj" fmla="val 2353"/>
            </a:avLst>
          </a:prstGeom>
          <a:solidFill>
            <a:srgbClr val="F3F6F8"/>
          </a:solidFill>
          <a:ln w="12700">
            <a:solidFill>
              <a:srgbClr val="F3F6F8"/>
            </a:solidFill>
            <a:prstDash val="solid"/>
          </a:ln>
        </p:spPr>
      </p:sp>
      <p:sp>
        <p:nvSpPr>
          <p:cNvPr id="10" name="Text 8"/>
          <p:cNvSpPr txBox="1"/>
          <p:nvPr/>
        </p:nvSpPr>
        <p:spPr>
          <a:xfrm>
            <a:off x="594360" y="1371600"/>
            <a:ext cx="3749040" cy="253492"/>
          </a:xfrm>
          <a:prstGeom prst="rect">
            <a:avLst/>
          </a:prstGeom>
          <a:noFill/>
          <a:ln/>
        </p:spPr>
        <p:txBody>
          <a:bodyPr wrap="square" lIns="0" tIns="0" rIns="0" bIns="0" rtlCol="0" anchor="t"/>
          <a:lstStyle/>
          <a:p>
            <a:pPr indent="0" marL="0">
              <a:buNone/>
            </a:pPr>
            <a:r>
              <a:rPr lang="en-US" sz="1400" b="1" dirty="0">
                <a:solidFill>
                  <a:srgbClr val="1F2933"/>
                </a:solidFill>
                <a:latin typeface="Cambria" pitchFamily="34" charset="0"/>
                <a:ea typeface="Cambria" pitchFamily="34" charset="-122"/>
                <a:cs typeface="Cambria" pitchFamily="34" charset="-120"/>
              </a:rPr>
              <a:t>Your sheet</a:t>
            </a:r>
            <a:endParaRPr lang="en-US" sz="1400" dirty="0"/>
          </a:p>
        </p:txBody>
      </p:sp>
      <p:sp>
        <p:nvSpPr>
          <p:cNvPr id="11" name="Text 9"/>
          <p:cNvSpPr txBox="1"/>
          <p:nvPr/>
        </p:nvSpPr>
        <p:spPr>
          <a:xfrm>
            <a:off x="594360" y="1661668"/>
            <a:ext cx="3749040" cy="263601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Forty named employees at Kestrel Pay. For each: risk score 0–1, role, tenure, months the manager has been in post, months since last promotion, estimated replacement cost in HK$.</a:t>
            </a:r>
            <a:endParaRPr lang="en-US" sz="1300" dirty="0"/>
          </a:p>
        </p:txBody>
      </p:sp>
      <p:sp>
        <p:nvSpPr>
          <p:cNvPr id="12" name="Shape 10"/>
          <p:cNvSpPr/>
          <p:nvPr/>
        </p:nvSpPr>
        <p:spPr>
          <a:xfrm>
            <a:off x="4663440" y="1280160"/>
            <a:ext cx="4023360" cy="3108960"/>
          </a:xfrm>
          <a:prstGeom prst="roundRect">
            <a:avLst>
              <a:gd name="adj" fmla="val 2353"/>
            </a:avLst>
          </a:prstGeom>
          <a:solidFill>
            <a:srgbClr val="F8ECE7"/>
          </a:solidFill>
          <a:ln w="12700">
            <a:solidFill>
              <a:srgbClr val="F8ECE7"/>
            </a:solidFill>
            <a:prstDash val="solid"/>
          </a:ln>
        </p:spPr>
      </p:sp>
      <p:sp>
        <p:nvSpPr>
          <p:cNvPr id="13" name="Text 11"/>
          <p:cNvSpPr txBox="1"/>
          <p:nvPr/>
        </p:nvSpPr>
        <p:spPr>
          <a:xfrm>
            <a:off x="4800600" y="1371600"/>
            <a:ext cx="3749040" cy="253492"/>
          </a:xfrm>
          <a:prstGeom prst="rect">
            <a:avLst/>
          </a:prstGeom>
          <a:noFill/>
          <a:ln/>
        </p:spPr>
        <p:txBody>
          <a:bodyPr wrap="square" lIns="0" tIns="0" rIns="0" bIns="0" rtlCol="0" anchor="t"/>
          <a:lstStyle/>
          <a:p>
            <a:pPr indent="0" marL="0">
              <a:buNone/>
            </a:pPr>
            <a:r>
              <a:rPr lang="en-US" sz="1400" b="1" dirty="0">
                <a:solidFill>
                  <a:srgbClr val="1F2933"/>
                </a:solidFill>
                <a:latin typeface="Cambria" pitchFamily="34" charset="0"/>
                <a:ea typeface="Cambria" pitchFamily="34" charset="-122"/>
                <a:cs typeface="Cambria" pitchFamily="34" charset="-120"/>
              </a:rPr>
              <a:t>Four decisions, one price</a:t>
            </a:r>
            <a:endParaRPr lang="en-US" sz="1400" dirty="0"/>
          </a:p>
        </p:txBody>
      </p:sp>
      <p:sp>
        <p:nvSpPr>
          <p:cNvPr id="14" name="Text 12"/>
          <p:cNvSpPr txBox="1"/>
          <p:nvPr/>
        </p:nvSpPr>
        <p:spPr>
          <a:xfrm>
            <a:off x="4800600" y="1661668"/>
            <a:ext cx="3749040" cy="263601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Where do you draw the line — which score?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 What is the intervention, concretely?</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 Who is told?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(d) What do you measure in six months?</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And price both mistakes: keeping someone who was never leaving; losing someone you did not flag.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2933"/>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E4EAEE"/>
                </a:solidFill>
                <a:latin typeface="Calibri" pitchFamily="34" charset="0"/>
                <a:ea typeface="Calibri" pitchFamily="34" charset="-122"/>
                <a:cs typeface="Calibri" pitchFamily="34" charset="-120"/>
              </a:rPr>
              <a:t>90–98 min · the twist</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E4EAEE"/>
                </a:solidFill>
                <a:latin typeface="Calibri" pitchFamily="34" charset="0"/>
                <a:ea typeface="Calibri" pitchFamily="34" charset="-122"/>
                <a:cs typeface="Calibri" pitchFamily="34" charset="-120"/>
              </a:rPr>
              <a:t>INSTRUCTOR · the predictive → prescriptive turn, landed on Theory A’s desirability axis and the textbook’s India findings (Ch.5 p.109–110)</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E4EAEE"/>
                </a:solidFill>
                <a:latin typeface="Calibri" pitchFamily="34" charset="0"/>
                <a:ea typeface="Calibri" pitchFamily="34" charset="-122"/>
                <a:cs typeface="Calibri" pitchFamily="34" charset="-120"/>
              </a:rPr>
              <a:t>24</a:t>
            </a:r>
            <a:endParaRPr lang="en-US" sz="900" dirty="0"/>
          </a:p>
        </p:txBody>
      </p:sp>
      <p:sp>
        <p:nvSpPr>
          <p:cNvPr id="7" name="Text 5"/>
          <p:cNvSpPr txBox="1"/>
          <p:nvPr/>
        </p:nvSpPr>
        <p:spPr>
          <a:xfrm>
            <a:off x="548640" y="457200"/>
            <a:ext cx="3657600" cy="320040"/>
          </a:xfrm>
          <a:prstGeom prst="rect">
            <a:avLst/>
          </a:prstGeom>
          <a:noFill/>
          <a:ln/>
        </p:spPr>
        <p:txBody>
          <a:bodyPr wrap="square" lIns="0" tIns="0" rIns="0" bIns="0" rtlCol="0" anchor="t"/>
          <a:lstStyle/>
          <a:p>
            <a:pPr algn="l" indent="0" marL="0">
              <a:buNone/>
            </a:pPr>
            <a:r>
              <a:rPr lang="en-US" sz="1200" b="1" dirty="0">
                <a:solidFill>
                  <a:srgbClr val="E4EAEE"/>
                </a:solidFill>
                <a:latin typeface="Calibri" pitchFamily="34" charset="0"/>
                <a:ea typeface="Calibri" pitchFamily="34" charset="-122"/>
                <a:cs typeface="Calibri" pitchFamily="34" charset="-120"/>
              </a:rPr>
              <a:t>AT MINUTE 90</a:t>
            </a:r>
            <a:endParaRPr lang="en-US" sz="1200" dirty="0"/>
          </a:p>
        </p:txBody>
      </p:sp>
      <p:sp>
        <p:nvSpPr>
          <p:cNvPr id="8" name="Text 6"/>
          <p:cNvSpPr txBox="1"/>
          <p:nvPr/>
        </p:nvSpPr>
        <p:spPr>
          <a:xfrm>
            <a:off x="548640" y="822960"/>
            <a:ext cx="8046720" cy="7315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two strongest drivers in this model are:</a:t>
            </a:r>
            <a:endParaRPr lang="en-US" sz="2400" dirty="0"/>
          </a:p>
        </p:txBody>
      </p:sp>
      <p:sp>
        <p:nvSpPr>
          <p:cNvPr id="9" name="Shape 7"/>
          <p:cNvSpPr/>
          <p:nvPr/>
        </p:nvSpPr>
        <p:spPr>
          <a:xfrm>
            <a:off x="548640" y="1645920"/>
            <a:ext cx="3931920" cy="1463040"/>
          </a:xfrm>
          <a:prstGeom prst="roundRect">
            <a:avLst>
              <a:gd name="adj" fmla="val 5000"/>
            </a:avLst>
          </a:prstGeom>
          <a:solidFill>
            <a:srgbClr val="C8553D"/>
          </a:solidFill>
          <a:ln w="12700">
            <a:solidFill>
              <a:srgbClr val="C8553D"/>
            </a:solidFill>
            <a:prstDash val="solid"/>
          </a:ln>
        </p:spPr>
      </p:sp>
      <p:sp>
        <p:nvSpPr>
          <p:cNvPr id="10" name="Text 8"/>
          <p:cNvSpPr txBox="1"/>
          <p:nvPr/>
        </p:nvSpPr>
        <p:spPr>
          <a:xfrm>
            <a:off x="731520" y="1645920"/>
            <a:ext cx="3566160"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Manager in post</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less than 12 months</a:t>
            </a:r>
            <a:endParaRPr lang="en-US" sz="2200" dirty="0"/>
          </a:p>
        </p:txBody>
      </p:sp>
      <p:sp>
        <p:nvSpPr>
          <p:cNvPr id="11" name="Shape 9"/>
          <p:cNvSpPr/>
          <p:nvPr/>
        </p:nvSpPr>
        <p:spPr>
          <a:xfrm>
            <a:off x="4663440" y="1645920"/>
            <a:ext cx="3931920" cy="1463040"/>
          </a:xfrm>
          <a:prstGeom prst="roundRect">
            <a:avLst>
              <a:gd name="adj" fmla="val 5000"/>
            </a:avLst>
          </a:prstGeom>
          <a:solidFill>
            <a:srgbClr val="C8553D"/>
          </a:solidFill>
          <a:ln w="12700">
            <a:solidFill>
              <a:srgbClr val="C8553D"/>
            </a:solidFill>
            <a:prstDash val="solid"/>
          </a:ln>
        </p:spPr>
      </p:sp>
      <p:sp>
        <p:nvSpPr>
          <p:cNvPr id="12" name="Text 10"/>
          <p:cNvSpPr txBox="1"/>
          <p:nvPr/>
        </p:nvSpPr>
        <p:spPr>
          <a:xfrm>
            <a:off x="4846320" y="1645920"/>
            <a:ext cx="3566160"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30 months since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last promotion</a:t>
            </a:r>
            <a:endParaRPr lang="en-US" sz="2200" dirty="0"/>
          </a:p>
        </p:txBody>
      </p:sp>
      <p:sp>
        <p:nvSpPr>
          <p:cNvPr id="13" name="Text 11"/>
          <p:cNvSpPr txBox="1"/>
          <p:nvPr/>
        </p:nvSpPr>
        <p:spPr>
          <a:xfrm>
            <a:off x="548640" y="3383280"/>
            <a:ext cx="80467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What changes?</a:t>
            </a:r>
            <a:endParaRPr 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 name="Text 2"/>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98–105 min · pros and cons</a:t>
            </a:r>
            <a:endParaRPr lang="en-US" sz="1000" dirty="0"/>
          </a:p>
        </p:txBody>
      </p:sp>
      <p:sp>
        <p:nvSpPr>
          <p:cNvPr id="5" name="Text 3"/>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Shared document, “Ledger” section — the theory ledger keeps its fixed place across all four Sundays</a:t>
            </a:r>
            <a:endParaRPr lang="en-US" sz="800" dirty="0"/>
          </a:p>
        </p:txBody>
      </p:sp>
      <p:sp>
        <p:nvSpPr>
          <p:cNvPr id="6" name="Text 4"/>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25</a:t>
            </a:r>
            <a:endParaRPr lang="en-US" sz="900" dirty="0"/>
          </a:p>
        </p:txBody>
      </p:sp>
      <p:sp>
        <p:nvSpPr>
          <p:cNvPr id="7" name="Text 5"/>
          <p:cNvSpPr txBox="1"/>
          <p:nvPr/>
        </p:nvSpPr>
        <p:spPr>
          <a:xfrm>
            <a:off x="1005840" y="347472"/>
            <a:ext cx="73152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What each theory explains — and does not</a:t>
            </a:r>
            <a:endParaRPr lang="en-US" sz="2400" dirty="0"/>
          </a:p>
        </p:txBody>
      </p:sp>
      <p:sp>
        <p:nvSpPr>
          <p:cNvPr id="8" name="Text 6"/>
          <p:cNvSpPr txBox="1"/>
          <p:nvPr/>
        </p:nvSpPr>
        <p:spPr>
          <a:xfrm>
            <a:off x="457200" y="868680"/>
            <a:ext cx="8229600" cy="320040"/>
          </a:xfrm>
          <a:prstGeom prst="rect">
            <a:avLst/>
          </a:prstGeom>
          <a:noFill/>
          <a:ln/>
        </p:spPr>
        <p:txBody>
          <a:bodyPr wrap="square" lIns="0" tIns="0" rIns="0" bIns="0" rtlCol="0" anchor="t"/>
          <a:lstStyle/>
          <a:p>
            <a:pPr algn="l" indent="0" marL="0">
              <a:buNone/>
            </a:pPr>
            <a:r>
              <a:rPr lang="en-US" sz="1200" dirty="0">
                <a:solidFill>
                  <a:srgbClr val="52606D"/>
                </a:solidFill>
                <a:latin typeface="Calibri" pitchFamily="34" charset="0"/>
                <a:ea typeface="Calibri" pitchFamily="34" charset="-122"/>
                <a:cs typeface="Calibri" pitchFamily="34" charset="-120"/>
              </a:rPr>
              <a:t>Fill the two columns yourselves first. Then we compare.</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3108960"/>
                <a:gridCol w="3108960"/>
              </a:tblGrid>
              <a:tr h="411480">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E4EAEE"/>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Explains</a:t>
                      </a: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E4EAEE"/>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Does not explain</a:t>
                      </a: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E4EAEE"/>
                    </a:solidFill>
                  </a:tcPr>
                </a:tc>
              </a:tr>
              <a:tr h="118872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Turnover process</a:t>
                      </a: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3F6F8"/>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118872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Risk quantification</a:t>
                      </a: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3F6F8"/>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457200" y="4160520"/>
            <a:ext cx="8229600" cy="457200"/>
          </a:xfrm>
          <a:prstGeom prst="rect">
            <a:avLst/>
          </a:prstGeom>
          <a:noFill/>
          <a:ln/>
        </p:spPr>
        <p:txBody>
          <a:bodyPr wrap="square" lIns="0" tIns="0" rIns="0" bIns="0" rtlCol="0" anchor="t"/>
          <a:lstStyle/>
          <a:p>
            <a:pPr algn="l" indent="0" marL="0">
              <a:buNone/>
            </a:pPr>
            <a:r>
              <a:rPr lang="en-US" sz="1150" i="1" dirty="0">
                <a:solidFill>
                  <a:srgbClr val="52606D"/>
                </a:solidFill>
                <a:latin typeface="Calibri" pitchFamily="34" charset="0"/>
                <a:ea typeface="Calibri" pitchFamily="34" charset="-122"/>
                <a:cs typeface="Calibri" pitchFamily="34" charset="-120"/>
              </a:rPr>
              <a:t>For the essay: three papers on the limits of the whole enterprise are on your list — Sarstedt &amp; Danks (2022); Giermindl et al. (2022); Edwards et al. (2024).</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105–120 min · group discussion</a:t>
            </a:r>
            <a:endParaRPr lang="en-US" sz="1000" dirty="0"/>
          </a:p>
        </p:txBody>
      </p:sp>
      <p:sp>
        <p:nvSpPr>
          <p:cNvPr id="3" name="Text 1"/>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Three lines per group into the shared document, “Discussion” section, by 117:00  ·  40 seconds per group to read line 2 aloud</a:t>
            </a:r>
            <a:endParaRPr lang="en-US" sz="800" dirty="0"/>
          </a:p>
        </p:txBody>
      </p:sp>
      <p:sp>
        <p:nvSpPr>
          <p:cNvPr id="4" name="Text 2"/>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26</a:t>
            </a:r>
            <a:endParaRPr lang="en-US" sz="900" dirty="0"/>
          </a:p>
        </p:txBody>
      </p:sp>
      <p:sp>
        <p:nvSpPr>
          <p:cNvPr id="5" name="Shape 3"/>
          <p:cNvSpPr/>
          <p:nvPr/>
        </p:nvSpPr>
        <p:spPr>
          <a:xfrm>
            <a:off x="457200" y="384048"/>
            <a:ext cx="420624" cy="420624"/>
          </a:xfrm>
          <a:prstGeom prst="ellipse">
            <a:avLst/>
          </a:prstGeom>
          <a:solidFill>
            <a:srgbClr val="C8553D"/>
          </a:solidFill>
          <a:ln w="12700">
            <a:solidFill>
              <a:srgbClr val="C8553D"/>
            </a:solidFill>
            <a:prstDash val="solid"/>
          </a:ln>
        </p:spPr>
      </p:sp>
      <p:sp>
        <p:nvSpPr>
          <p:cNvPr id="6" name="Text 4"/>
          <p:cNvSpPr txBox="1"/>
          <p:nvPr/>
        </p:nvSpPr>
        <p:spPr>
          <a:xfrm>
            <a:off x="457200" y="384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7" name="Text 5"/>
          <p:cNvSpPr txBox="1"/>
          <p:nvPr/>
        </p:nvSpPr>
        <p:spPr>
          <a:xfrm>
            <a:off x="1005840" y="347472"/>
            <a:ext cx="768096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Fifteen minutes, three questions</a:t>
            </a:r>
            <a:endParaRPr lang="en-US" sz="2400" dirty="0"/>
          </a:p>
        </p:txBody>
      </p:sp>
      <p:sp>
        <p:nvSpPr>
          <p:cNvPr id="8" name="Shape 6"/>
          <p:cNvSpPr/>
          <p:nvPr/>
        </p:nvSpPr>
        <p:spPr>
          <a:xfrm>
            <a:off x="457200" y="1097280"/>
            <a:ext cx="8229600" cy="914400"/>
          </a:xfrm>
          <a:prstGeom prst="roundRect">
            <a:avLst>
              <a:gd name="adj" fmla="val 8000"/>
            </a:avLst>
          </a:prstGeom>
          <a:solidFill>
            <a:srgbClr val="F3F6F8"/>
          </a:solidFill>
          <a:ln w="12700">
            <a:solidFill>
              <a:srgbClr val="F3F6F8"/>
            </a:solidFill>
            <a:prstDash val="solid"/>
          </a:ln>
        </p:spPr>
      </p:sp>
      <p:sp>
        <p:nvSpPr>
          <p:cNvPr id="9" name="Text 7"/>
          <p:cNvSpPr txBox="1"/>
          <p:nvPr/>
        </p:nvSpPr>
        <p:spPr>
          <a:xfrm>
            <a:off x="594360" y="1188720"/>
            <a:ext cx="7955280" cy="230251"/>
          </a:xfrm>
          <a:prstGeom prst="rect">
            <a:avLst/>
          </a:prstGeom>
          <a:noFill/>
          <a:ln/>
        </p:spPr>
        <p:txBody>
          <a:bodyPr wrap="square" lIns="0" tIns="0" rIns="0" bIns="0" rtlCol="0" anchor="t"/>
          <a:lstStyle/>
          <a:p>
            <a:pPr indent="0" marL="0">
              <a:buNone/>
            </a:pPr>
            <a:r>
              <a:rPr lang="en-US" sz="1250" b="1" dirty="0">
                <a:solidFill>
                  <a:srgbClr val="1F2933"/>
                </a:solidFill>
                <a:latin typeface="Cambria" pitchFamily="34" charset="0"/>
                <a:ea typeface="Cambria" pitchFamily="34" charset="-122"/>
                <a:cs typeface="Cambria" pitchFamily="34" charset="-120"/>
              </a:rPr>
              <a:t>1 · Decide</a:t>
            </a:r>
            <a:endParaRPr lang="en-US" sz="1250" dirty="0"/>
          </a:p>
        </p:txBody>
      </p:sp>
      <p:sp>
        <p:nvSpPr>
          <p:cNvPr id="10" name="Text 8"/>
          <p:cNvSpPr txBox="1"/>
          <p:nvPr/>
        </p:nvSpPr>
        <p:spPr>
          <a:xfrm>
            <a:off x="594360" y="1455547"/>
            <a:ext cx="7955280" cy="464693"/>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Your group has HK$600,000 for retention this quarter and forty names. Where do you draw the line, how many people is that, and what does each kind of mistake cost you in dollars?</a:t>
            </a:r>
            <a:endParaRPr lang="en-US" sz="1150" dirty="0"/>
          </a:p>
        </p:txBody>
      </p:sp>
      <p:sp>
        <p:nvSpPr>
          <p:cNvPr id="11" name="Shape 9"/>
          <p:cNvSpPr/>
          <p:nvPr/>
        </p:nvSpPr>
        <p:spPr>
          <a:xfrm>
            <a:off x="457200" y="2103120"/>
            <a:ext cx="8229600" cy="1325880"/>
          </a:xfrm>
          <a:prstGeom prst="roundRect">
            <a:avLst>
              <a:gd name="adj" fmla="val 5517"/>
            </a:avLst>
          </a:prstGeom>
          <a:solidFill>
            <a:srgbClr val="F8ECE7"/>
          </a:solidFill>
          <a:ln w="12700">
            <a:solidFill>
              <a:srgbClr val="F8ECE7"/>
            </a:solidFill>
            <a:prstDash val="solid"/>
          </a:ln>
        </p:spPr>
      </p:sp>
      <p:sp>
        <p:nvSpPr>
          <p:cNvPr id="12" name="Text 10"/>
          <p:cNvSpPr txBox="1"/>
          <p:nvPr/>
        </p:nvSpPr>
        <p:spPr>
          <a:xfrm>
            <a:off x="594360" y="2194560"/>
            <a:ext cx="7955280" cy="230251"/>
          </a:xfrm>
          <a:prstGeom prst="rect">
            <a:avLst/>
          </a:prstGeom>
          <a:noFill/>
          <a:ln/>
        </p:spPr>
        <p:txBody>
          <a:bodyPr wrap="square" lIns="0" tIns="0" rIns="0" bIns="0" rtlCol="0" anchor="t"/>
          <a:lstStyle/>
          <a:p>
            <a:pPr indent="0" marL="0">
              <a:buNone/>
            </a:pPr>
            <a:r>
              <a:rPr lang="en-US" sz="1250" b="1" dirty="0">
                <a:solidFill>
                  <a:srgbClr val="1F2933"/>
                </a:solidFill>
                <a:latin typeface="Cambria" pitchFamily="34" charset="0"/>
                <a:ea typeface="Cambria" pitchFamily="34" charset="-122"/>
                <a:cs typeface="Cambria" pitchFamily="34" charset="-120"/>
              </a:rPr>
              <a:t>2 · Take a position</a:t>
            </a:r>
            <a:endParaRPr lang="en-US" sz="1250" dirty="0"/>
          </a:p>
        </p:txBody>
      </p:sp>
      <p:sp>
        <p:nvSpPr>
          <p:cNvPr id="13" name="Text 11"/>
          <p:cNvSpPr txBox="1"/>
          <p:nvPr/>
        </p:nvSpPr>
        <p:spPr>
          <a:xfrm>
            <a:off x="594360" y="2461387"/>
            <a:ext cx="7955280" cy="876173"/>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Who is allowed to see this list — HR only, the line manager, the person named? Under the Personal Data (Privacy) Ordinance the score is personal data about an identifiable person, and under Data Protection Principle 6 that person can ask to see it. If an employee files a data access request tomorrow, what exactly do you hand over — the score, the inputs, the model?</a:t>
            </a:r>
            <a:endParaRPr lang="en-US" sz="1150" dirty="0"/>
          </a:p>
        </p:txBody>
      </p:sp>
      <p:sp>
        <p:nvSpPr>
          <p:cNvPr id="14" name="Shape 12"/>
          <p:cNvSpPr/>
          <p:nvPr/>
        </p:nvSpPr>
        <p:spPr>
          <a:xfrm>
            <a:off x="457200" y="3520440"/>
            <a:ext cx="8229600" cy="1143000"/>
          </a:xfrm>
          <a:prstGeom prst="roundRect">
            <a:avLst>
              <a:gd name="adj" fmla="val 6400"/>
            </a:avLst>
          </a:prstGeom>
          <a:solidFill>
            <a:srgbClr val="F3F6F8"/>
          </a:solidFill>
          <a:ln w="12700">
            <a:solidFill>
              <a:srgbClr val="F3F6F8"/>
            </a:solidFill>
            <a:prstDash val="solid"/>
          </a:ln>
        </p:spPr>
      </p:sp>
      <p:sp>
        <p:nvSpPr>
          <p:cNvPr id="15" name="Text 13"/>
          <p:cNvSpPr txBox="1"/>
          <p:nvPr/>
        </p:nvSpPr>
        <p:spPr>
          <a:xfrm>
            <a:off x="594360" y="3611880"/>
            <a:ext cx="7955280" cy="230251"/>
          </a:xfrm>
          <a:prstGeom prst="rect">
            <a:avLst/>
          </a:prstGeom>
          <a:noFill/>
          <a:ln/>
        </p:spPr>
        <p:txBody>
          <a:bodyPr wrap="square" lIns="0" tIns="0" rIns="0" bIns="0" rtlCol="0" anchor="t"/>
          <a:lstStyle/>
          <a:p>
            <a:pPr indent="0" marL="0">
              <a:buNone/>
            </a:pPr>
            <a:r>
              <a:rPr lang="en-US" sz="1250" b="1" dirty="0">
                <a:solidFill>
                  <a:srgbClr val="1F2933"/>
                </a:solidFill>
                <a:latin typeface="Cambria" pitchFamily="34" charset="0"/>
                <a:ea typeface="Cambria" pitchFamily="34" charset="-122"/>
                <a:cs typeface="Cambria" pitchFamily="34" charset="-120"/>
              </a:rPr>
              <a:t>3 · Rehearse your interview (AT4)</a:t>
            </a:r>
            <a:endParaRPr lang="en-US" sz="1250" dirty="0"/>
          </a:p>
        </p:txBody>
      </p:sp>
      <p:sp>
        <p:nvSpPr>
          <p:cNvPr id="16" name="Text 14"/>
          <p:cNvSpPr txBox="1"/>
          <p:nvPr/>
        </p:nvSpPr>
        <p:spPr>
          <a:xfrm>
            <a:off x="594360" y="3878707"/>
            <a:ext cx="7955280" cy="693293"/>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You will interview a senior manager at a Hong Kong FinTech firm. Write one question that tests today’s theory — does the firm know who wants to leave, who can leave, and who would hurt most if they left? Predict the answer, and say which of the eight steps their HR function stops at.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E4EAEE"/>
                </a:solidFill>
                <a:latin typeface="Calibri" pitchFamily="34" charset="0"/>
                <a:ea typeface="Calibri" pitchFamily="34" charset="-122"/>
                <a:cs typeface="Calibri" pitchFamily="34" charset="-120"/>
              </a:rPr>
              <a:t>119–120 min</a:t>
            </a:r>
            <a:endParaRPr lang="en-US" sz="1000" dirty="0"/>
          </a:p>
        </p:txBody>
      </p:sp>
      <p:sp>
        <p:nvSpPr>
          <p:cNvPr id="3" name="Text 1"/>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E4EAEE"/>
                </a:solidFill>
                <a:latin typeface="Calibri" pitchFamily="34" charset="0"/>
                <a:ea typeface="Calibri" pitchFamily="34" charset="-122"/>
                <a:cs typeface="Calibri" pitchFamily="34" charset="-120"/>
              </a:rPr>
              <a:t>Personal Data (Privacy) Ordinance, Cap. 486 — Data Protection Principle 6 (access and correction)  ·  check current wording and the process exemption before teaching</a:t>
            </a:r>
            <a:endParaRPr lang="en-US" sz="800" dirty="0"/>
          </a:p>
        </p:txBody>
      </p:sp>
      <p:sp>
        <p:nvSpPr>
          <p:cNvPr id="4" name="Text 2"/>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E4EAEE"/>
                </a:solidFill>
                <a:latin typeface="Calibri" pitchFamily="34" charset="0"/>
                <a:ea typeface="Calibri" pitchFamily="34" charset="-122"/>
                <a:cs typeface="Calibri" pitchFamily="34" charset="-120"/>
              </a:rPr>
              <a:t>27</a:t>
            </a:r>
            <a:endParaRPr lang="en-US" sz="900" dirty="0"/>
          </a:p>
        </p:txBody>
      </p:sp>
      <p:sp>
        <p:nvSpPr>
          <p:cNvPr id="5" name="Text 3"/>
          <p:cNvSpPr txBox="1"/>
          <p:nvPr/>
        </p:nvSpPr>
        <p:spPr>
          <a:xfrm>
            <a:off x="548640" y="457200"/>
            <a:ext cx="7315200" cy="320040"/>
          </a:xfrm>
          <a:prstGeom prst="rect">
            <a:avLst/>
          </a:prstGeom>
          <a:noFill/>
          <a:ln/>
        </p:spPr>
        <p:txBody>
          <a:bodyPr wrap="square" lIns="0" tIns="0" rIns="0" bIns="0" rtlCol="0" anchor="t"/>
          <a:lstStyle/>
          <a:p>
            <a:pPr algn="l" indent="0" marL="0">
              <a:buNone/>
            </a:pPr>
            <a:r>
              <a:rPr lang="en-US" sz="1200" b="1" dirty="0">
                <a:solidFill>
                  <a:srgbClr val="E4EAEE"/>
                </a:solidFill>
                <a:latin typeface="Calibri" pitchFamily="34" charset="0"/>
                <a:ea typeface="Calibri" pitchFamily="34" charset="-122"/>
                <a:cs typeface="Calibri" pitchFamily="34" charset="-120"/>
              </a:rPr>
              <a:t>THE LAST SENTENCE OF FOUR SUNDAYS</a:t>
            </a:r>
            <a:endParaRPr lang="en-US" sz="1200" dirty="0"/>
          </a:p>
        </p:txBody>
      </p:sp>
      <p:sp>
        <p:nvSpPr>
          <p:cNvPr id="6" name="Text 4"/>
          <p:cNvSpPr txBox="1"/>
          <p:nvPr/>
        </p:nvSpPr>
        <p:spPr>
          <a:xfrm>
            <a:off x="548640" y="914400"/>
            <a:ext cx="8046720" cy="1737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model gave you a list.</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Hong Kong law gives the person on the list the right to ask what you know about them.</a:t>
            </a:r>
            <a:endParaRPr lang="en-US" sz="2600" dirty="0"/>
          </a:p>
        </p:txBody>
      </p:sp>
      <p:sp>
        <p:nvSpPr>
          <p:cNvPr id="7" name="Text 5"/>
          <p:cNvSpPr txBox="1"/>
          <p:nvPr/>
        </p:nvSpPr>
        <p:spPr>
          <a:xfrm>
            <a:off x="548640" y="2834640"/>
            <a:ext cx="8046720" cy="1188720"/>
          </a:xfrm>
          <a:prstGeom prst="rect">
            <a:avLst/>
          </a:prstGeom>
          <a:noFill/>
          <a:ln/>
        </p:spPr>
        <p:txBody>
          <a:bodyPr wrap="square" lIns="0" tIns="0" rIns="0" bIns="0" rtlCol="0" anchor="t"/>
          <a:lstStyle/>
          <a:p>
            <a:pPr algn="l" indent="0" marL="0">
              <a:buNone/>
            </a:pPr>
            <a:r>
              <a:rPr lang="en-US" sz="1600" i="1" dirty="0">
                <a:solidFill>
                  <a:srgbClr val="E4EAEE"/>
                </a:solidFill>
                <a:latin typeface="Cambria" pitchFamily="34" charset="0"/>
                <a:ea typeface="Cambria" pitchFamily="34" charset="-122"/>
                <a:cs typeface="Cambria" pitchFamily="34" charset="-120"/>
              </a:rPr>
              <a:t>“Four Sundays. You planned for people, hired them, paid them, and today you predicted who would leave. Before you build the next model, decide what you are prepared to hand over.”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0" y="91440"/>
            <a:ext cx="3200400" cy="228600"/>
          </a:xfrm>
          <a:prstGeom prst="rect">
            <a:avLst/>
          </a:prstGeom>
          <a:noFill/>
          <a:ln/>
        </p:spPr>
        <p:txBody>
          <a:bodyPr wrap="square" lIns="0" tIns="0" rIns="0" bIns="0" rtlCol="0" anchor="ctr"/>
          <a:lstStyle/>
          <a:p>
            <a:pPr algn="r" indent="0" marL="0">
              <a:buNone/>
            </a:pPr>
            <a:r>
              <a:rPr lang="en-US" sz="1000" dirty="0">
                <a:solidFill>
                  <a:srgbClr val="52606D"/>
                </a:solidFill>
                <a:latin typeface="Calibri" pitchFamily="34" charset="0"/>
                <a:ea typeface="Calibri" pitchFamily="34" charset="-122"/>
                <a:cs typeface="Calibri" pitchFamily="34" charset="-120"/>
              </a:rPr>
              <a:t>after class</a:t>
            </a:r>
            <a:endParaRPr lang="en-US" sz="1000" dirty="0"/>
          </a:p>
        </p:txBody>
      </p:sp>
      <p:sp>
        <p:nvSpPr>
          <p:cNvPr id="3" name="Text 1"/>
          <p:cNvSpPr txBox="1"/>
          <p:nvPr/>
        </p:nvSpPr>
        <p:spPr>
          <a:xfrm>
            <a:off x="457200" y="4681728"/>
            <a:ext cx="7589520" cy="310896"/>
          </a:xfrm>
          <a:prstGeom prst="rect">
            <a:avLst/>
          </a:prstGeom>
          <a:noFill/>
          <a:ln/>
        </p:spPr>
        <p:txBody>
          <a:bodyPr wrap="square" lIns="0" tIns="0" rIns="0" bIns="0" rtlCol="0" anchor="ctr"/>
          <a:lstStyle/>
          <a:p>
            <a:pPr indent="0" marL="0">
              <a:buNone/>
            </a:pPr>
            <a:r>
              <a:rPr lang="en-US" sz="800" spc="100" kern="0" dirty="0">
                <a:solidFill>
                  <a:srgbClr val="52606D"/>
                </a:solidFill>
                <a:latin typeface="Calibri" pitchFamily="34" charset="0"/>
                <a:ea typeface="Calibri" pitchFamily="34" charset="-122"/>
                <a:cs typeface="Calibri" pitchFamily="34" charset="-120"/>
              </a:rPr>
              <a:t>TEXTBOOK · Diez, Bussin &amp; Lee (2019), Fundamentals of HR Analytics, Ch.5 p.101–120  ·  Week 4 milestone per the course schedule</a:t>
            </a:r>
            <a:endParaRPr lang="en-US" sz="800" dirty="0"/>
          </a:p>
        </p:txBody>
      </p:sp>
      <p:sp>
        <p:nvSpPr>
          <p:cNvPr id="4" name="Text 2"/>
          <p:cNvSpPr txBox="1"/>
          <p:nvPr/>
        </p:nvSpPr>
        <p:spPr>
          <a:xfrm>
            <a:off x="8229600" y="4681728"/>
            <a:ext cx="457200" cy="228600"/>
          </a:xfrm>
          <a:prstGeom prst="rect">
            <a:avLst/>
          </a:prstGeom>
          <a:noFill/>
          <a:ln/>
        </p:spPr>
        <p:txBody>
          <a:bodyPr wrap="square" lIns="0" tIns="0" rIns="0" bIns="0" rtlCol="0" anchor="ctr"/>
          <a:lstStyle/>
          <a:p>
            <a:pPr algn="r" indent="0" marL="0">
              <a:buNone/>
            </a:pPr>
            <a:r>
              <a:rPr lang="en-US" sz="900" dirty="0">
                <a:solidFill>
                  <a:srgbClr val="52606D"/>
                </a:solidFill>
                <a:latin typeface="Calibri" pitchFamily="34" charset="0"/>
                <a:ea typeface="Calibri" pitchFamily="34" charset="-122"/>
                <a:cs typeface="Calibri" pitchFamily="34" charset="-120"/>
              </a:rPr>
              <a:t>28</a:t>
            </a:r>
            <a:endParaRPr lang="en-US" sz="900" dirty="0"/>
          </a:p>
        </p:txBody>
      </p:sp>
      <p:sp>
        <p:nvSpPr>
          <p:cNvPr id="5" name="Text 3"/>
          <p:cNvSpPr txBox="1"/>
          <p:nvPr/>
        </p:nvSpPr>
        <p:spPr>
          <a:xfrm>
            <a:off x="1005840" y="347472"/>
            <a:ext cx="5486400" cy="685800"/>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Before next time</a:t>
            </a:r>
            <a:endParaRPr lang="en-US" sz="2400" dirty="0"/>
          </a:p>
        </p:txBody>
      </p:sp>
      <p:sp>
        <p:nvSpPr>
          <p:cNvPr id="6" name="Shape 4"/>
          <p:cNvSpPr/>
          <p:nvPr/>
        </p:nvSpPr>
        <p:spPr>
          <a:xfrm>
            <a:off x="457200" y="1051560"/>
            <a:ext cx="4023360" cy="1554480"/>
          </a:xfrm>
          <a:prstGeom prst="roundRect">
            <a:avLst>
              <a:gd name="adj" fmla="val 4706"/>
            </a:avLst>
          </a:prstGeom>
          <a:solidFill>
            <a:srgbClr val="F3F6F8"/>
          </a:solidFill>
          <a:ln w="12700">
            <a:solidFill>
              <a:srgbClr val="F3F6F8"/>
            </a:solidFill>
            <a:prstDash val="solid"/>
          </a:ln>
        </p:spPr>
      </p:sp>
      <p:sp>
        <p:nvSpPr>
          <p:cNvPr id="7" name="Text 5"/>
          <p:cNvSpPr txBox="1"/>
          <p:nvPr/>
        </p:nvSpPr>
        <p:spPr>
          <a:xfrm>
            <a:off x="594360" y="11430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Read (essential)</a:t>
            </a:r>
            <a:endParaRPr lang="en-US" sz="1300" dirty="0"/>
          </a:p>
        </p:txBody>
      </p:sp>
      <p:sp>
        <p:nvSpPr>
          <p:cNvPr id="8" name="Text 6"/>
          <p:cNvSpPr txBox="1"/>
          <p:nvPr/>
        </p:nvSpPr>
        <p:spPr>
          <a:xfrm>
            <a:off x="594360" y="1417574"/>
            <a:ext cx="3749040" cy="109702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Textbook Ch.5 Turnover, p.101–120 (about 30 minutes) — if you have not.</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Ma et al. (2020), Soft Computing 24.</a:t>
            </a:r>
            <a:endParaRPr lang="en-US" sz="1250" dirty="0"/>
          </a:p>
        </p:txBody>
      </p:sp>
      <p:sp>
        <p:nvSpPr>
          <p:cNvPr id="9" name="Shape 7"/>
          <p:cNvSpPr/>
          <p:nvPr/>
        </p:nvSpPr>
        <p:spPr>
          <a:xfrm>
            <a:off x="4663440" y="1051560"/>
            <a:ext cx="4023360" cy="1554480"/>
          </a:xfrm>
          <a:prstGeom prst="roundRect">
            <a:avLst>
              <a:gd name="adj" fmla="val 4706"/>
            </a:avLst>
          </a:prstGeom>
          <a:solidFill>
            <a:srgbClr val="F3F6F8"/>
          </a:solidFill>
          <a:ln w="12700">
            <a:solidFill>
              <a:srgbClr val="F3F6F8"/>
            </a:solidFill>
            <a:prstDash val="solid"/>
          </a:ln>
        </p:spPr>
      </p:sp>
      <p:sp>
        <p:nvSpPr>
          <p:cNvPr id="10" name="Text 8"/>
          <p:cNvSpPr txBox="1"/>
          <p:nvPr/>
        </p:nvSpPr>
        <p:spPr>
          <a:xfrm>
            <a:off x="4800600" y="114300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Read (optional)</a:t>
            </a:r>
            <a:endParaRPr lang="en-US" sz="1300" dirty="0"/>
          </a:p>
        </p:txBody>
      </p:sp>
      <p:sp>
        <p:nvSpPr>
          <p:cNvPr id="11" name="Text 9"/>
          <p:cNvSpPr txBox="1"/>
          <p:nvPr/>
        </p:nvSpPr>
        <p:spPr>
          <a:xfrm>
            <a:off x="4800600" y="1417574"/>
            <a:ext cx="3749040" cy="109702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Khera &amp; Divya (2018), Vision 23(1).</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Al Akasheh et al. (2023), Expert Systems with Applications.</a:t>
            </a:r>
            <a:endParaRPr lang="en-US" sz="1250" dirty="0"/>
          </a:p>
        </p:txBody>
      </p:sp>
      <p:sp>
        <p:nvSpPr>
          <p:cNvPr id="12" name="Shape 10"/>
          <p:cNvSpPr/>
          <p:nvPr/>
        </p:nvSpPr>
        <p:spPr>
          <a:xfrm>
            <a:off x="457200" y="2743200"/>
            <a:ext cx="4023360" cy="1691640"/>
          </a:xfrm>
          <a:prstGeom prst="roundRect">
            <a:avLst>
              <a:gd name="adj" fmla="val 4324"/>
            </a:avLst>
          </a:prstGeom>
          <a:solidFill>
            <a:srgbClr val="F8ECE7"/>
          </a:solidFill>
          <a:ln w="12700">
            <a:solidFill>
              <a:srgbClr val="F8ECE7"/>
            </a:solidFill>
            <a:prstDash val="solid"/>
          </a:ln>
        </p:spPr>
      </p:sp>
      <p:sp>
        <p:nvSpPr>
          <p:cNvPr id="13" name="Text 11"/>
          <p:cNvSpPr txBox="1"/>
          <p:nvPr/>
        </p:nvSpPr>
        <p:spPr>
          <a:xfrm>
            <a:off x="594360" y="283464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AT3 milestone this week</a:t>
            </a:r>
            <a:endParaRPr lang="en-US" sz="1300" dirty="0"/>
          </a:p>
        </p:txBody>
      </p:sp>
      <p:sp>
        <p:nvSpPr>
          <p:cNvPr id="14" name="Text 12"/>
          <p:cNvSpPr txBox="1"/>
          <p:nvPr/>
        </p:nvSpPr>
        <p:spPr>
          <a:xfrm>
            <a:off x="594360" y="3109214"/>
            <a:ext cx="3749040" cy="123418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Your essay topic and two journal articles, to the tutorial. The threshold-and-cost argument from today is a good essay spine.</a:t>
            </a:r>
            <a:endParaRPr lang="en-US" sz="1250" dirty="0"/>
          </a:p>
        </p:txBody>
      </p:sp>
      <p:sp>
        <p:nvSpPr>
          <p:cNvPr id="15" name="Shape 13"/>
          <p:cNvSpPr/>
          <p:nvPr/>
        </p:nvSpPr>
        <p:spPr>
          <a:xfrm>
            <a:off x="4663440" y="2743200"/>
            <a:ext cx="4023360" cy="1691640"/>
          </a:xfrm>
          <a:prstGeom prst="roundRect">
            <a:avLst>
              <a:gd name="adj" fmla="val 4324"/>
            </a:avLst>
          </a:prstGeom>
          <a:solidFill>
            <a:srgbClr val="F3F6F8"/>
          </a:solidFill>
          <a:ln w="12700">
            <a:solidFill>
              <a:srgbClr val="F3F6F8"/>
            </a:solidFill>
            <a:prstDash val="solid"/>
          </a:ln>
        </p:spPr>
      </p:sp>
      <p:sp>
        <p:nvSpPr>
          <p:cNvPr id="16" name="Text 14"/>
          <p:cNvSpPr txBox="1"/>
          <p:nvPr/>
        </p:nvSpPr>
        <p:spPr>
          <a:xfrm>
            <a:off x="4800600" y="2834640"/>
            <a:ext cx="3749040" cy="237998"/>
          </a:xfrm>
          <a:prstGeom prst="rect">
            <a:avLst/>
          </a:prstGeom>
          <a:noFill/>
          <a:ln/>
        </p:spPr>
        <p:txBody>
          <a:bodyPr wrap="square" lIns="0" tIns="0" rIns="0" bIns="0" rtlCol="0" anchor="t"/>
          <a:lstStyle/>
          <a:p>
            <a:pPr indent="0" marL="0">
              <a:buNone/>
            </a:pPr>
            <a:r>
              <a:rPr lang="en-US" sz="1300" b="1" dirty="0">
                <a:solidFill>
                  <a:srgbClr val="1F2933"/>
                </a:solidFill>
                <a:latin typeface="Cambria" pitchFamily="34" charset="0"/>
                <a:ea typeface="Cambria" pitchFamily="34" charset="-122"/>
                <a:cs typeface="Cambria" pitchFamily="34" charset="-120"/>
              </a:rPr>
              <a:t>With Dr Lee</a:t>
            </a:r>
            <a:endParaRPr lang="en-US" sz="1300" dirty="0"/>
          </a:p>
        </p:txBody>
      </p:sp>
      <p:sp>
        <p:nvSpPr>
          <p:cNvPr id="17" name="Text 15"/>
          <p:cNvSpPr txBox="1"/>
          <p:nvPr/>
        </p:nvSpPr>
        <p:spPr>
          <a:xfrm>
            <a:off x="4800600" y="3109214"/>
            <a:ext cx="3749040" cy="1234186"/>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Which algorithm, and why. How to measure a model properly — precision, recall, validation. Everything I stopped short of today.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 508 Lesson 4 Predicting Turnover in FinTech</dc:title>
  <dc:subject>PptxGenJS Presentation</dc:subject>
  <dc:creator>FINT 508 guest lecture</dc:creator>
  <cp:lastModifiedBy>FINT 508 guest lecture</cp:lastModifiedBy>
  <cp:revision>1</cp:revision>
  <dcterms:created xsi:type="dcterms:W3CDTF">2026-09-14T15:35:58Z</dcterms:created>
  <dcterms:modified xsi:type="dcterms:W3CDTF">2026-09-14T15:35:58Z</dcterms:modified>
</cp:coreProperties>
</file>